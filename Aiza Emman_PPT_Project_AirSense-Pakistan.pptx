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embeddedFontLst>
    <p:embeddedFont>
      <p:font typeface="Geist" panose="020B0604020202020204" charset="0"/>
      <p:regular r:id="rId11"/>
    </p:embeddedFont>
    <p:embeddedFont>
      <p:font typeface="Calibri" panose="020F0502020204030204" pitchFamily="34" charset="0"/>
      <p:regular r:id="rId12"/>
      <p:bold r:id="rId13"/>
      <p:italic r:id="rId14"/>
      <p:boldItalic r:id="rId15"/>
    </p:embeddedFont>
    <p:embeddedFont>
      <p:font typeface="Geist Medium" panose="020B0604020202020204" charset="0"/>
      <p:regular r:id="rId16"/>
    </p:embeddedFont>
    <p:embeddedFont>
      <p:font typeface="Consolas" panose="020B0609020204030204" pitchFamily="49"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63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heme" Target="theme/theme1.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2415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B5F76"/>
          </a:solidFill>
          <a:ln/>
        </p:spPr>
      </p:sp>
      <p:sp>
        <p:nvSpPr>
          <p:cNvPr id="3" name="Shape 1"/>
          <p:cNvSpPr/>
          <p:nvPr/>
        </p:nvSpPr>
        <p:spPr>
          <a:xfrm>
            <a:off x="0" y="0"/>
            <a:ext cx="9144000" cy="5143500"/>
          </a:xfrm>
          <a:prstGeom prst="rect">
            <a:avLst/>
          </a:prstGeom>
          <a:solidFill>
            <a:srgbClr val="040C1A">
              <a:alpha val="95000"/>
            </a:srgbClr>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B5F76"/>
          </a:solidFill>
          <a:ln/>
        </p:spPr>
      </p:sp>
      <p:sp>
        <p:nvSpPr>
          <p:cNvPr id="3" name="Shape 1"/>
          <p:cNvSpPr/>
          <p:nvPr/>
        </p:nvSpPr>
        <p:spPr>
          <a:xfrm>
            <a:off x="0" y="0"/>
            <a:ext cx="9144000" cy="5143500"/>
          </a:xfrm>
          <a:prstGeom prst="rect">
            <a:avLst/>
          </a:prstGeom>
          <a:solidFill>
            <a:srgbClr val="040C1A">
              <a:alpha val="95000"/>
            </a:srgbClr>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B5F76"/>
          </a:solidFill>
          <a:ln/>
        </p:spPr>
      </p:sp>
      <p:sp>
        <p:nvSpPr>
          <p:cNvPr id="3" name="Shape 1"/>
          <p:cNvSpPr/>
          <p:nvPr/>
        </p:nvSpPr>
        <p:spPr>
          <a:xfrm>
            <a:off x="0" y="0"/>
            <a:ext cx="9144000" cy="5143500"/>
          </a:xfrm>
          <a:prstGeom prst="rect">
            <a:avLst/>
          </a:prstGeom>
          <a:solidFill>
            <a:srgbClr val="040C1A">
              <a:alpha val="95000"/>
            </a:srgbClr>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B5F76"/>
          </a:solidFill>
          <a:ln/>
        </p:spPr>
      </p:sp>
      <p:sp>
        <p:nvSpPr>
          <p:cNvPr id="3" name="Shape 1"/>
          <p:cNvSpPr/>
          <p:nvPr/>
        </p:nvSpPr>
        <p:spPr>
          <a:xfrm>
            <a:off x="0" y="0"/>
            <a:ext cx="9144000" cy="5143500"/>
          </a:xfrm>
          <a:prstGeom prst="rect">
            <a:avLst/>
          </a:prstGeom>
          <a:solidFill>
            <a:srgbClr val="040C1A">
              <a:alpha val="95000"/>
            </a:srgbClr>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B5F76"/>
          </a:solidFill>
          <a:ln/>
        </p:spPr>
      </p:sp>
      <p:sp>
        <p:nvSpPr>
          <p:cNvPr id="3" name="Shape 1"/>
          <p:cNvSpPr/>
          <p:nvPr/>
        </p:nvSpPr>
        <p:spPr>
          <a:xfrm>
            <a:off x="0" y="0"/>
            <a:ext cx="9144000" cy="5143500"/>
          </a:xfrm>
          <a:prstGeom prst="rect">
            <a:avLst/>
          </a:prstGeom>
          <a:solidFill>
            <a:srgbClr val="040C1A">
              <a:alpha val="95000"/>
            </a:srgbClr>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B5F76"/>
          </a:solidFill>
          <a:ln/>
        </p:spPr>
      </p:sp>
      <p:sp>
        <p:nvSpPr>
          <p:cNvPr id="3" name="Shape 1"/>
          <p:cNvSpPr/>
          <p:nvPr/>
        </p:nvSpPr>
        <p:spPr>
          <a:xfrm>
            <a:off x="0" y="0"/>
            <a:ext cx="9144000" cy="5143500"/>
          </a:xfrm>
          <a:prstGeom prst="rect">
            <a:avLst/>
          </a:prstGeom>
          <a:solidFill>
            <a:srgbClr val="040C1A"/>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B5F76"/>
          </a:solidFill>
          <a:ln/>
        </p:spPr>
      </p:sp>
      <p:sp>
        <p:nvSpPr>
          <p:cNvPr id="3" name="Shape 1"/>
          <p:cNvSpPr/>
          <p:nvPr/>
        </p:nvSpPr>
        <p:spPr>
          <a:xfrm>
            <a:off x="0" y="0"/>
            <a:ext cx="9144000" cy="5143500"/>
          </a:xfrm>
          <a:prstGeom prst="rect">
            <a:avLst/>
          </a:prstGeom>
          <a:solidFill>
            <a:srgbClr val="040C1A">
              <a:alpha val="95000"/>
            </a:srgbClr>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B5F76"/>
          </a:solidFill>
          <a:ln/>
        </p:spPr>
      </p:sp>
      <p:sp>
        <p:nvSpPr>
          <p:cNvPr id="3" name="Shape 1"/>
          <p:cNvSpPr/>
          <p:nvPr/>
        </p:nvSpPr>
        <p:spPr>
          <a:xfrm>
            <a:off x="0" y="0"/>
            <a:ext cx="9144000" cy="5143500"/>
          </a:xfrm>
          <a:prstGeom prst="rect">
            <a:avLst/>
          </a:prstGeom>
          <a:solidFill>
            <a:srgbClr val="040C1A">
              <a:alpha val="95000"/>
            </a:srgbClr>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8-6.svg"/><Relationship Id="rId5" Type="http://schemas.openxmlformats.org/officeDocument/2006/relationships/image" Target="../media/image-8-4.svg"/><Relationship Id="rId4" Type="http://schemas.openxmlformats.org/officeDocument/2006/relationships/image" Target="../media/image-8-2.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96119" y="719063"/>
            <a:ext cx="1153046" cy="232395"/>
          </a:xfrm>
          <a:prstGeom prst="roundRect">
            <a:avLst>
              <a:gd name="adj" fmla="val 43922"/>
            </a:avLst>
          </a:prstGeom>
          <a:solidFill>
            <a:srgbClr val="C6D1D6"/>
          </a:solidFill>
          <a:ln/>
        </p:spPr>
      </p:sp>
      <p:sp>
        <p:nvSpPr>
          <p:cNvPr id="3" name="Text 1"/>
          <p:cNvSpPr/>
          <p:nvPr/>
        </p:nvSpPr>
        <p:spPr>
          <a:xfrm>
            <a:off x="581174" y="761554"/>
            <a:ext cx="982935" cy="147414"/>
          </a:xfrm>
          <a:prstGeom prst="rect">
            <a:avLst/>
          </a:prstGeom>
          <a:noFill/>
          <a:ln/>
        </p:spPr>
        <p:txBody>
          <a:bodyPr wrap="none" lIns="0" tIns="0" rIns="0" bIns="0" rtlCol="0" anchor="t"/>
          <a:lstStyle/>
          <a:p>
            <a:pPr marL="0" indent="0" algn="l">
              <a:lnSpc>
                <a:spcPts val="1150"/>
              </a:lnSpc>
              <a:buNone/>
            </a:pPr>
            <a:r>
              <a:rPr lang="en-US" sz="850" dirty="0">
                <a:solidFill>
                  <a:srgbClr val="000000"/>
                </a:solidFill>
                <a:latin typeface="Geist" pitchFamily="34" charset="0"/>
                <a:ea typeface="Geist" pitchFamily="34" charset="-122"/>
                <a:cs typeface="Geist" pitchFamily="34" charset="-120"/>
              </a:rPr>
              <a:t>AI FINAL PROJECT</a:t>
            </a:r>
            <a:endParaRPr lang="en-US" sz="850" dirty="0"/>
          </a:p>
        </p:txBody>
      </p:sp>
      <p:sp>
        <p:nvSpPr>
          <p:cNvPr id="4" name="Shape 2"/>
          <p:cNvSpPr/>
          <p:nvPr/>
        </p:nvSpPr>
        <p:spPr>
          <a:xfrm>
            <a:off x="1720007" y="714301"/>
            <a:ext cx="1588219" cy="241920"/>
          </a:xfrm>
          <a:prstGeom prst="roundRect">
            <a:avLst>
              <a:gd name="adj" fmla="val 42193"/>
            </a:avLst>
          </a:prstGeom>
          <a:noFill/>
          <a:ln w="4763">
            <a:solidFill>
              <a:srgbClr val="2C3A4C"/>
            </a:solidFill>
            <a:prstDash val="solid"/>
          </a:ln>
        </p:spPr>
      </p:sp>
      <p:sp>
        <p:nvSpPr>
          <p:cNvPr id="5" name="Text 3"/>
          <p:cNvSpPr/>
          <p:nvPr/>
        </p:nvSpPr>
        <p:spPr>
          <a:xfrm>
            <a:off x="1809824" y="761554"/>
            <a:ext cx="1408584" cy="147414"/>
          </a:xfrm>
          <a:prstGeom prst="rect">
            <a:avLst/>
          </a:prstGeom>
          <a:noFill/>
          <a:ln/>
        </p:spPr>
        <p:txBody>
          <a:bodyPr wrap="none" lIns="0" tIns="0" rIns="0" bIns="0" rtlCol="0" anchor="t"/>
          <a:lstStyle/>
          <a:p>
            <a:pPr marL="0" indent="0" algn="l">
              <a:lnSpc>
                <a:spcPts val="1150"/>
              </a:lnSpc>
              <a:buNone/>
            </a:pPr>
            <a:r>
              <a:rPr lang="en-US" sz="850" dirty="0">
                <a:solidFill>
                  <a:srgbClr val="C6D1D6"/>
                </a:solidFill>
                <a:latin typeface="Geist" pitchFamily="34" charset="0"/>
                <a:ea typeface="Geist" pitchFamily="34" charset="-122"/>
                <a:cs typeface="Geist" pitchFamily="34" charset="-120"/>
              </a:rPr>
              <a:t>SEMESTER PRESENTATION</a:t>
            </a:r>
            <a:endParaRPr lang="en-US" sz="850" dirty="0"/>
          </a:p>
        </p:txBody>
      </p:sp>
      <p:sp>
        <p:nvSpPr>
          <p:cNvPr id="6" name="Text 4"/>
          <p:cNvSpPr/>
          <p:nvPr/>
        </p:nvSpPr>
        <p:spPr>
          <a:xfrm>
            <a:off x="496119" y="1012924"/>
            <a:ext cx="7088312" cy="1772096"/>
          </a:xfrm>
          <a:prstGeom prst="rect">
            <a:avLst/>
          </a:prstGeom>
          <a:noFill/>
          <a:ln/>
        </p:spPr>
        <p:txBody>
          <a:bodyPr wrap="square" lIns="0" tIns="0" rIns="0" bIns="0" rtlCol="0" anchor="t"/>
          <a:lstStyle/>
          <a:p>
            <a:pPr marL="0" indent="0" algn="l">
              <a:lnSpc>
                <a:spcPts val="6950"/>
              </a:lnSpc>
              <a:buNone/>
            </a:pPr>
            <a:r>
              <a:rPr lang="en-US" sz="5550" dirty="0">
                <a:solidFill>
                  <a:srgbClr val="C6D1D6"/>
                </a:solidFill>
                <a:latin typeface="Geist Medium" pitchFamily="34" charset="0"/>
                <a:ea typeface="Geist Medium" pitchFamily="34" charset="-122"/>
                <a:cs typeface="Geist Medium" pitchFamily="34" charset="-120"/>
              </a:rPr>
              <a:t>AirSense</a:t>
            </a:r>
            <a:endParaRPr lang="en-US" sz="5550" dirty="0"/>
          </a:p>
          <a:p>
            <a:pPr marL="0" indent="0" algn="l">
              <a:lnSpc>
                <a:spcPts val="6950"/>
              </a:lnSpc>
              <a:buNone/>
            </a:pPr>
            <a:r>
              <a:rPr lang="en-US" sz="5550" dirty="0">
                <a:solidFill>
                  <a:srgbClr val="C6D1D6"/>
                </a:solidFill>
                <a:latin typeface="Geist Medium" pitchFamily="34" charset="0"/>
                <a:ea typeface="Geist Medium" pitchFamily="34" charset="-122"/>
                <a:cs typeface="Geist Medium" pitchFamily="34" charset="-120"/>
              </a:rPr>
              <a:t>Pakistan</a:t>
            </a:r>
            <a:endParaRPr lang="en-US" sz="5550" dirty="0"/>
          </a:p>
        </p:txBody>
      </p:sp>
      <p:sp>
        <p:nvSpPr>
          <p:cNvPr id="7" name="Text 5"/>
          <p:cNvSpPr/>
          <p:nvPr/>
        </p:nvSpPr>
        <p:spPr>
          <a:xfrm>
            <a:off x="496119" y="2997622"/>
            <a:ext cx="8151763" cy="184249"/>
          </a:xfrm>
          <a:prstGeom prst="rect">
            <a:avLst/>
          </a:prstGeom>
          <a:noFill/>
          <a:ln/>
        </p:spPr>
        <p:txBody>
          <a:bodyPr wrap="none" lIns="0" tIns="0" rIns="0" bIns="0" rtlCol="0" anchor="t"/>
          <a:lstStyle/>
          <a:p>
            <a:pPr marL="0" indent="0" algn="l">
              <a:lnSpc>
                <a:spcPts val="1450"/>
              </a:lnSpc>
              <a:buNone/>
            </a:pPr>
            <a:r>
              <a:rPr lang="en-US" sz="1100" b="1" dirty="0">
                <a:solidFill>
                  <a:srgbClr val="C6D1D6"/>
                </a:solidFill>
                <a:latin typeface="Geist" pitchFamily="34" charset="0"/>
                <a:ea typeface="Geist" pitchFamily="34" charset="-122"/>
                <a:cs typeface="Geist" pitchFamily="34" charset="-120"/>
              </a:rPr>
              <a:t>Air Pollution Health Risk Predictor</a:t>
            </a:r>
            <a:r>
              <a:rPr lang="en-US" sz="1100" dirty="0">
                <a:solidFill>
                  <a:srgbClr val="C6D1D6"/>
                </a:solidFill>
                <a:latin typeface="Geist" pitchFamily="34" charset="0"/>
                <a:ea typeface="Geist" pitchFamily="34" charset="-122"/>
                <a:cs typeface="Geist" pitchFamily="34" charset="-120"/>
              </a:rPr>
              <a:t> — Pakistan Cities (Lahore, Karachi, Faisalabad)</a:t>
            </a:r>
            <a:endParaRPr lang="en-US" sz="1100" dirty="0"/>
          </a:p>
        </p:txBody>
      </p:sp>
      <p:sp>
        <p:nvSpPr>
          <p:cNvPr id="8" name="Text 6"/>
          <p:cNvSpPr/>
          <p:nvPr/>
        </p:nvSpPr>
        <p:spPr>
          <a:xfrm>
            <a:off x="496119" y="3341340"/>
            <a:ext cx="8151763" cy="184249"/>
          </a:xfrm>
          <a:prstGeom prst="rect">
            <a:avLst/>
          </a:prstGeom>
          <a:noFill/>
          <a:ln/>
        </p:spPr>
        <p:txBody>
          <a:bodyPr wrap="non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Presented by: </a:t>
            </a:r>
            <a:r>
              <a:rPr lang="en-US" sz="1100" b="1" dirty="0">
                <a:solidFill>
                  <a:srgbClr val="C6D1D6"/>
                </a:solidFill>
                <a:latin typeface="Geist" pitchFamily="34" charset="0"/>
                <a:ea typeface="Geist" pitchFamily="34" charset="-122"/>
                <a:cs typeface="Geist" pitchFamily="34" charset="-120"/>
              </a:rPr>
              <a:t>AIZA Emman</a:t>
            </a:r>
            <a:r>
              <a:rPr lang="en-US" sz="1100" dirty="0">
                <a:solidFill>
                  <a:srgbClr val="C6D1D6"/>
                </a:solidFill>
                <a:latin typeface="Geist" pitchFamily="34" charset="0"/>
                <a:ea typeface="Geist" pitchFamily="34" charset="-122"/>
                <a:cs typeface="Geist" pitchFamily="34" charset="-120"/>
              </a:rPr>
              <a:t> | Professor: </a:t>
            </a:r>
            <a:r>
              <a:rPr lang="en-US" sz="1100" b="1" dirty="0">
                <a:solidFill>
                  <a:srgbClr val="C6D1D6"/>
                </a:solidFill>
                <a:latin typeface="Geist" pitchFamily="34" charset="0"/>
                <a:ea typeface="Geist" pitchFamily="34" charset="-122"/>
                <a:cs typeface="Geist" pitchFamily="34" charset="-120"/>
              </a:rPr>
              <a:t>Mr. Faisal Hafeez</a:t>
            </a:r>
            <a:r>
              <a:rPr lang="en-US" sz="1100" dirty="0">
                <a:solidFill>
                  <a:srgbClr val="C6D1D6"/>
                </a:solidFill>
                <a:latin typeface="Geist" pitchFamily="34" charset="0"/>
                <a:ea typeface="Geist" pitchFamily="34" charset="-122"/>
                <a:cs typeface="Geist" pitchFamily="34" charset="-120"/>
              </a:rPr>
              <a:t> | Subject: </a:t>
            </a:r>
            <a:r>
              <a:rPr lang="en-US" sz="1100" b="1" dirty="0">
                <a:solidFill>
                  <a:srgbClr val="C6D1D6"/>
                </a:solidFill>
                <a:latin typeface="Geist" pitchFamily="34" charset="0"/>
                <a:ea typeface="Geist" pitchFamily="34" charset="-122"/>
                <a:cs typeface="Geist" pitchFamily="34" charset="-120"/>
              </a:rPr>
              <a:t>Artificial Intelligence</a:t>
            </a:r>
            <a:endParaRPr lang="en-US" sz="1100" dirty="0"/>
          </a:p>
        </p:txBody>
      </p:sp>
      <p:sp>
        <p:nvSpPr>
          <p:cNvPr id="9" name="Shape 7"/>
          <p:cNvSpPr/>
          <p:nvPr/>
        </p:nvSpPr>
        <p:spPr>
          <a:xfrm>
            <a:off x="496119" y="3685059"/>
            <a:ext cx="8151763" cy="744066"/>
          </a:xfrm>
          <a:prstGeom prst="roundRect">
            <a:avLst>
              <a:gd name="adj" fmla="val 17148"/>
            </a:avLst>
          </a:prstGeom>
          <a:solidFill>
            <a:srgbClr val="4B3F02"/>
          </a:solidFill>
          <a:ln/>
        </p:spPr>
      </p:sp>
      <p:pic>
        <p:nvPicPr>
          <p:cNvPr id="10" name="Image 0" descr="preencoded.png"/>
          <p:cNvPicPr>
            <a:picLocks noChangeAspect="1"/>
          </p:cNvPicPr>
          <p:nvPr/>
        </p:nvPicPr>
        <p:blipFill>
          <a:blip r:embed="rId3"/>
          <a:stretch>
            <a:fillRect/>
          </a:stretch>
        </p:blipFill>
        <p:spPr>
          <a:xfrm>
            <a:off x="637877" y="3876303"/>
            <a:ext cx="177180" cy="141759"/>
          </a:xfrm>
          <a:prstGeom prst="rect">
            <a:avLst/>
          </a:prstGeom>
        </p:spPr>
      </p:pic>
      <p:sp>
        <p:nvSpPr>
          <p:cNvPr id="11" name="Text 8"/>
          <p:cNvSpPr/>
          <p:nvPr/>
        </p:nvSpPr>
        <p:spPr>
          <a:xfrm>
            <a:off x="956816" y="3862239"/>
            <a:ext cx="7549307" cy="368498"/>
          </a:xfrm>
          <a:prstGeom prst="rect">
            <a:avLst/>
          </a:prstGeom>
          <a:noFill/>
          <a:ln/>
        </p:spPr>
        <p:txBody>
          <a:bodyPr wrap="square" lIns="0" tIns="0" rIns="0" bIns="0" rtlCol="0" anchor="t"/>
          <a:lstStyle/>
          <a:p>
            <a:pPr marL="0" indent="0" algn="l">
              <a:lnSpc>
                <a:spcPts val="1450"/>
              </a:lnSpc>
              <a:buNone/>
            </a:pPr>
            <a:r>
              <a:rPr lang="en-US" sz="1100" dirty="0">
                <a:solidFill>
                  <a:srgbClr val="000000"/>
                </a:solidFill>
                <a:latin typeface="Geist" pitchFamily="34" charset="0"/>
                <a:ea typeface="Geist" pitchFamily="34" charset="-122"/>
                <a:cs typeface="Geist" pitchFamily="34" charset="-120"/>
              </a:rPr>
              <a:t>🌫️</a:t>
            </a:r>
            <a:r>
              <a:rPr lang="en-US" sz="1100" dirty="0">
                <a:solidFill>
                  <a:srgbClr val="FFFFFF"/>
                </a:solidFill>
                <a:latin typeface="Geist" pitchFamily="34" charset="0"/>
                <a:ea typeface="Geist" pitchFamily="34" charset="-122"/>
                <a:cs typeface="Geist" pitchFamily="34" charset="-120"/>
              </a:rPr>
              <a:t> Lahore, Karachi, and Faisalabad face extreme smog — citizens have no way to know their personal health risk level. AirSense Pakistan solves this with AI.</a:t>
            </a:r>
            <a:endParaRPr lang="en-US" sz="1100" dirty="0"/>
          </a:p>
        </p:txBody>
      </p:sp>
      <p:sp>
        <p:nvSpPr>
          <p:cNvPr id="12" name="Rectangle 11"/>
          <p:cNvSpPr/>
          <p:nvPr/>
        </p:nvSpPr>
        <p:spPr>
          <a:xfrm>
            <a:off x="8050696" y="4850296"/>
            <a:ext cx="1033669" cy="218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761479"/>
            <a:ext cx="5339507" cy="442987"/>
          </a:xfrm>
          <a:prstGeom prst="rect">
            <a:avLst/>
          </a:prstGeom>
          <a:noFill/>
          <a:ln/>
        </p:spPr>
        <p:txBody>
          <a:bodyPr wrap="none" lIns="0" tIns="0" rIns="0" bIns="0" rtlCol="0" anchor="t"/>
          <a:lstStyle/>
          <a:p>
            <a:pPr marL="0" indent="0" algn="l">
              <a:lnSpc>
                <a:spcPts val="3450"/>
              </a:lnSpc>
              <a:buNone/>
            </a:pPr>
            <a:r>
              <a:rPr lang="en-US" sz="2750" dirty="0">
                <a:solidFill>
                  <a:srgbClr val="C6D1D6"/>
                </a:solidFill>
                <a:latin typeface="Geist Medium" pitchFamily="34" charset="0"/>
                <a:ea typeface="Geist Medium" pitchFamily="34" charset="-122"/>
                <a:cs typeface="Geist Medium" pitchFamily="34" charset="-120"/>
              </a:rPr>
              <a:t>WHAT IS AQI &amp; WHY IT MATTERS</a:t>
            </a:r>
            <a:endParaRPr lang="en-US" sz="2750" dirty="0"/>
          </a:p>
        </p:txBody>
      </p:sp>
      <p:sp>
        <p:nvSpPr>
          <p:cNvPr id="3" name="Text 1"/>
          <p:cNvSpPr/>
          <p:nvPr/>
        </p:nvSpPr>
        <p:spPr>
          <a:xfrm>
            <a:off x="496119" y="1487984"/>
            <a:ext cx="8151763" cy="368498"/>
          </a:xfrm>
          <a:prstGeom prst="rect">
            <a:avLst/>
          </a:prstGeom>
          <a:noFill/>
          <a:ln/>
        </p:spPr>
        <p:txBody>
          <a:bodyPr wrap="squar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AQI (Air Quality Index) measures how clean or polluted the air is and its potential health impact. AirSense Pakistan uses AQI as the core engine for pollution severity, health risk, and AI-based predictions.</a:t>
            </a:r>
            <a:endParaRPr lang="en-US" sz="1100" dirty="0"/>
          </a:p>
        </p:txBody>
      </p:sp>
      <p:sp>
        <p:nvSpPr>
          <p:cNvPr id="4" name="Text 2"/>
          <p:cNvSpPr/>
          <p:nvPr/>
        </p:nvSpPr>
        <p:spPr>
          <a:xfrm>
            <a:off x="496119" y="2015951"/>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C6D1D6"/>
                </a:solidFill>
                <a:latin typeface="Geist Light" pitchFamily="34" charset="0"/>
                <a:ea typeface="Geist Light" pitchFamily="34" charset="-122"/>
                <a:cs typeface="Geist Light" pitchFamily="34" charset="-120"/>
              </a:rPr>
              <a:t>01</a:t>
            </a:r>
            <a:endParaRPr lang="en-US" sz="1100" dirty="0"/>
          </a:p>
        </p:txBody>
      </p:sp>
      <p:sp>
        <p:nvSpPr>
          <p:cNvPr id="5" name="Shape 3"/>
          <p:cNvSpPr/>
          <p:nvPr/>
        </p:nvSpPr>
        <p:spPr>
          <a:xfrm>
            <a:off x="496119" y="2237854"/>
            <a:ext cx="4004965" cy="19050"/>
          </a:xfrm>
          <a:prstGeom prst="rect">
            <a:avLst/>
          </a:prstGeom>
          <a:solidFill>
            <a:srgbClr val="2C3A4C"/>
          </a:solidFill>
          <a:ln/>
        </p:spPr>
      </p:sp>
      <p:sp>
        <p:nvSpPr>
          <p:cNvPr id="6" name="Text 4"/>
          <p:cNvSpPr/>
          <p:nvPr/>
        </p:nvSpPr>
        <p:spPr>
          <a:xfrm>
            <a:off x="496119" y="2346796"/>
            <a:ext cx="1772022" cy="221456"/>
          </a:xfrm>
          <a:prstGeom prst="rect">
            <a:avLst/>
          </a:prstGeom>
          <a:noFill/>
          <a:ln/>
        </p:spPr>
        <p:txBody>
          <a:bodyPr wrap="none" lIns="0" tIns="0" rIns="0" bIns="0" rtlCol="0" anchor="t"/>
          <a:lstStyle/>
          <a:p>
            <a:pPr marL="0" indent="0" algn="l">
              <a:lnSpc>
                <a:spcPts val="1700"/>
              </a:lnSpc>
              <a:buNone/>
            </a:pPr>
            <a:r>
              <a:rPr lang="en-US" sz="1350" dirty="0">
                <a:solidFill>
                  <a:srgbClr val="C6D1D6"/>
                </a:solidFill>
                <a:latin typeface="Geist Medium" pitchFamily="34" charset="0"/>
                <a:ea typeface="Geist Medium" pitchFamily="34" charset="-122"/>
                <a:cs typeface="Geist Medium" pitchFamily="34" charset="-120"/>
              </a:rPr>
              <a:t>0–50 → GOOD</a:t>
            </a:r>
            <a:endParaRPr lang="en-US" sz="1350" dirty="0"/>
          </a:p>
        </p:txBody>
      </p:sp>
      <p:sp>
        <p:nvSpPr>
          <p:cNvPr id="7" name="Text 5"/>
          <p:cNvSpPr/>
          <p:nvPr/>
        </p:nvSpPr>
        <p:spPr>
          <a:xfrm>
            <a:off x="496119" y="2653308"/>
            <a:ext cx="4004965" cy="184249"/>
          </a:xfrm>
          <a:prstGeom prst="rect">
            <a:avLst/>
          </a:prstGeom>
          <a:noFill/>
          <a:ln/>
        </p:spPr>
        <p:txBody>
          <a:bodyPr wrap="non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Safe air quality. No health concerns for the general public.</a:t>
            </a:r>
            <a:endParaRPr lang="en-US" sz="1100" dirty="0"/>
          </a:p>
        </p:txBody>
      </p:sp>
      <p:sp>
        <p:nvSpPr>
          <p:cNvPr id="8" name="Text 6"/>
          <p:cNvSpPr/>
          <p:nvPr/>
        </p:nvSpPr>
        <p:spPr>
          <a:xfrm>
            <a:off x="4642842" y="2015951"/>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C6D1D6"/>
                </a:solidFill>
                <a:latin typeface="Geist Light" pitchFamily="34" charset="0"/>
                <a:ea typeface="Geist Light" pitchFamily="34" charset="-122"/>
                <a:cs typeface="Geist Light" pitchFamily="34" charset="-120"/>
              </a:rPr>
              <a:t>02</a:t>
            </a:r>
            <a:endParaRPr lang="en-US" sz="1100" dirty="0"/>
          </a:p>
        </p:txBody>
      </p:sp>
      <p:sp>
        <p:nvSpPr>
          <p:cNvPr id="9" name="Shape 7"/>
          <p:cNvSpPr/>
          <p:nvPr/>
        </p:nvSpPr>
        <p:spPr>
          <a:xfrm>
            <a:off x="4642842" y="2237854"/>
            <a:ext cx="4005039" cy="19050"/>
          </a:xfrm>
          <a:prstGeom prst="rect">
            <a:avLst/>
          </a:prstGeom>
          <a:solidFill>
            <a:srgbClr val="4B5F76"/>
          </a:solidFill>
          <a:ln/>
        </p:spPr>
      </p:sp>
      <p:sp>
        <p:nvSpPr>
          <p:cNvPr id="10" name="Text 8"/>
          <p:cNvSpPr/>
          <p:nvPr/>
        </p:nvSpPr>
        <p:spPr>
          <a:xfrm>
            <a:off x="4642842" y="2346796"/>
            <a:ext cx="2810545" cy="221456"/>
          </a:xfrm>
          <a:prstGeom prst="rect">
            <a:avLst/>
          </a:prstGeom>
          <a:noFill/>
          <a:ln/>
        </p:spPr>
        <p:txBody>
          <a:bodyPr wrap="none" lIns="0" tIns="0" rIns="0" bIns="0" rtlCol="0" anchor="t"/>
          <a:lstStyle/>
          <a:p>
            <a:pPr marL="0" indent="0" algn="l">
              <a:lnSpc>
                <a:spcPts val="1700"/>
              </a:lnSpc>
              <a:buNone/>
            </a:pPr>
            <a:r>
              <a:rPr lang="en-US" sz="1350" dirty="0">
                <a:solidFill>
                  <a:srgbClr val="C6D1D6"/>
                </a:solidFill>
                <a:latin typeface="Geist Medium" pitchFamily="34" charset="0"/>
                <a:ea typeface="Geist Medium" pitchFamily="34" charset="-122"/>
                <a:cs typeface="Geist Medium" pitchFamily="34" charset="-120"/>
              </a:rPr>
              <a:t>51–150 → MODERATE / SENSITIVE</a:t>
            </a:r>
            <a:endParaRPr lang="en-US" sz="1350" dirty="0"/>
          </a:p>
        </p:txBody>
      </p:sp>
      <p:sp>
        <p:nvSpPr>
          <p:cNvPr id="11" name="Text 9"/>
          <p:cNvSpPr/>
          <p:nvPr/>
        </p:nvSpPr>
        <p:spPr>
          <a:xfrm>
            <a:off x="4642842" y="2653308"/>
            <a:ext cx="4005039" cy="368498"/>
          </a:xfrm>
          <a:prstGeom prst="rect">
            <a:avLst/>
          </a:prstGeom>
          <a:noFill/>
          <a:ln/>
        </p:spPr>
        <p:txBody>
          <a:bodyPr wrap="squar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Acceptable for most. Sensitive groups (asthma, COPD) may experience effects.</a:t>
            </a:r>
            <a:endParaRPr lang="en-US" sz="1100" dirty="0"/>
          </a:p>
        </p:txBody>
      </p:sp>
      <p:sp>
        <p:nvSpPr>
          <p:cNvPr id="12" name="Text 10"/>
          <p:cNvSpPr/>
          <p:nvPr/>
        </p:nvSpPr>
        <p:spPr>
          <a:xfrm>
            <a:off x="496119" y="3269828"/>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C6D1D6"/>
                </a:solidFill>
                <a:latin typeface="Geist Light" pitchFamily="34" charset="0"/>
                <a:ea typeface="Geist Light" pitchFamily="34" charset="-122"/>
                <a:cs typeface="Geist Light" pitchFamily="34" charset="-120"/>
              </a:rPr>
              <a:t>03</a:t>
            </a:r>
            <a:endParaRPr lang="en-US" sz="1100" dirty="0"/>
          </a:p>
        </p:txBody>
      </p:sp>
      <p:sp>
        <p:nvSpPr>
          <p:cNvPr id="13" name="Shape 11"/>
          <p:cNvSpPr/>
          <p:nvPr/>
        </p:nvSpPr>
        <p:spPr>
          <a:xfrm>
            <a:off x="496119" y="3491731"/>
            <a:ext cx="4004965" cy="19050"/>
          </a:xfrm>
          <a:prstGeom prst="rect">
            <a:avLst/>
          </a:prstGeom>
          <a:solidFill>
            <a:srgbClr val="8A9AA8"/>
          </a:solidFill>
          <a:ln/>
        </p:spPr>
      </p:sp>
      <p:sp>
        <p:nvSpPr>
          <p:cNvPr id="14" name="Text 12"/>
          <p:cNvSpPr/>
          <p:nvPr/>
        </p:nvSpPr>
        <p:spPr>
          <a:xfrm>
            <a:off x="496119" y="3600673"/>
            <a:ext cx="1946970" cy="221456"/>
          </a:xfrm>
          <a:prstGeom prst="rect">
            <a:avLst/>
          </a:prstGeom>
          <a:noFill/>
          <a:ln/>
        </p:spPr>
        <p:txBody>
          <a:bodyPr wrap="none" lIns="0" tIns="0" rIns="0" bIns="0" rtlCol="0" anchor="t"/>
          <a:lstStyle/>
          <a:p>
            <a:pPr marL="0" indent="0" algn="l">
              <a:lnSpc>
                <a:spcPts val="1700"/>
              </a:lnSpc>
              <a:buNone/>
            </a:pPr>
            <a:r>
              <a:rPr lang="en-US" sz="1350" dirty="0">
                <a:solidFill>
                  <a:srgbClr val="C6D1D6"/>
                </a:solidFill>
                <a:latin typeface="Geist Medium" pitchFamily="34" charset="0"/>
                <a:ea typeface="Geist Medium" pitchFamily="34" charset="-122"/>
                <a:cs typeface="Geist Medium" pitchFamily="34" charset="-120"/>
              </a:rPr>
              <a:t>151–200 → UNHEALTHY</a:t>
            </a:r>
            <a:endParaRPr lang="en-US" sz="1350" dirty="0"/>
          </a:p>
        </p:txBody>
      </p:sp>
      <p:sp>
        <p:nvSpPr>
          <p:cNvPr id="15" name="Text 13"/>
          <p:cNvSpPr/>
          <p:nvPr/>
        </p:nvSpPr>
        <p:spPr>
          <a:xfrm>
            <a:off x="496119" y="3907185"/>
            <a:ext cx="4004965" cy="368498"/>
          </a:xfrm>
          <a:prstGeom prst="rect">
            <a:avLst/>
          </a:prstGeom>
          <a:noFill/>
          <a:ln/>
        </p:spPr>
        <p:txBody>
          <a:bodyPr wrap="squar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Everyone may begin to experience health effects. Long outdoor exposure is unsafe.</a:t>
            </a:r>
            <a:endParaRPr lang="en-US" sz="1100" dirty="0"/>
          </a:p>
        </p:txBody>
      </p:sp>
      <p:sp>
        <p:nvSpPr>
          <p:cNvPr id="16" name="Text 14"/>
          <p:cNvSpPr/>
          <p:nvPr/>
        </p:nvSpPr>
        <p:spPr>
          <a:xfrm>
            <a:off x="4642842" y="3269828"/>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C6D1D6"/>
                </a:solidFill>
                <a:latin typeface="Geist Light" pitchFamily="34" charset="0"/>
                <a:ea typeface="Geist Light" pitchFamily="34" charset="-122"/>
                <a:cs typeface="Geist Light" pitchFamily="34" charset="-120"/>
              </a:rPr>
              <a:t>04</a:t>
            </a:r>
            <a:endParaRPr lang="en-US" sz="1100" dirty="0"/>
          </a:p>
        </p:txBody>
      </p:sp>
      <p:sp>
        <p:nvSpPr>
          <p:cNvPr id="17" name="Shape 15"/>
          <p:cNvSpPr/>
          <p:nvPr/>
        </p:nvSpPr>
        <p:spPr>
          <a:xfrm>
            <a:off x="4642842" y="3491731"/>
            <a:ext cx="4005039" cy="19050"/>
          </a:xfrm>
          <a:prstGeom prst="rect">
            <a:avLst/>
          </a:prstGeom>
          <a:solidFill>
            <a:srgbClr val="C6D1D6"/>
          </a:solidFill>
          <a:ln/>
        </p:spPr>
      </p:sp>
      <p:sp>
        <p:nvSpPr>
          <p:cNvPr id="18" name="Text 16"/>
          <p:cNvSpPr/>
          <p:nvPr/>
        </p:nvSpPr>
        <p:spPr>
          <a:xfrm>
            <a:off x="4642842" y="3600673"/>
            <a:ext cx="3829943" cy="221456"/>
          </a:xfrm>
          <a:prstGeom prst="rect">
            <a:avLst/>
          </a:prstGeom>
          <a:noFill/>
          <a:ln/>
        </p:spPr>
        <p:txBody>
          <a:bodyPr wrap="none" lIns="0" tIns="0" rIns="0" bIns="0" rtlCol="0" anchor="t"/>
          <a:lstStyle/>
          <a:p>
            <a:pPr marL="0" indent="0" algn="l">
              <a:lnSpc>
                <a:spcPts val="1700"/>
              </a:lnSpc>
              <a:buNone/>
            </a:pPr>
            <a:r>
              <a:rPr lang="en-US" sz="1350" dirty="0">
                <a:solidFill>
                  <a:srgbClr val="C6D1D6"/>
                </a:solidFill>
                <a:latin typeface="Geist Medium" pitchFamily="34" charset="0"/>
                <a:ea typeface="Geist Medium" pitchFamily="34" charset="-122"/>
                <a:cs typeface="Geist Medium" pitchFamily="34" charset="-120"/>
              </a:rPr>
              <a:t>201–300+ → VERY UNHEALTHY / HAZARDOUS</a:t>
            </a:r>
            <a:endParaRPr lang="en-US" sz="1350" dirty="0"/>
          </a:p>
        </p:txBody>
      </p:sp>
      <p:sp>
        <p:nvSpPr>
          <p:cNvPr id="19" name="Text 17"/>
          <p:cNvSpPr/>
          <p:nvPr/>
        </p:nvSpPr>
        <p:spPr>
          <a:xfrm>
            <a:off x="4642842" y="3907185"/>
            <a:ext cx="4005039" cy="368498"/>
          </a:xfrm>
          <a:prstGeom prst="rect">
            <a:avLst/>
          </a:prstGeom>
          <a:noFill/>
          <a:ln/>
        </p:spPr>
        <p:txBody>
          <a:bodyPr wrap="squar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Health warnings of emergency conditions. Entire population is at risk.</a:t>
            </a:r>
            <a:endParaRPr lang="en-US" sz="1100" dirty="0"/>
          </a:p>
        </p:txBody>
      </p:sp>
      <p:sp>
        <p:nvSpPr>
          <p:cNvPr id="20" name="Rectangle 19"/>
          <p:cNvSpPr/>
          <p:nvPr/>
        </p:nvSpPr>
        <p:spPr>
          <a:xfrm>
            <a:off x="8060635" y="4860235"/>
            <a:ext cx="1003852" cy="2087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655662"/>
            <a:ext cx="3366939" cy="420886"/>
          </a:xfrm>
          <a:prstGeom prst="rect">
            <a:avLst/>
          </a:prstGeom>
          <a:noFill/>
          <a:ln/>
        </p:spPr>
        <p:txBody>
          <a:bodyPr wrap="none" lIns="0" tIns="0" rIns="0" bIns="0" rtlCol="0" anchor="t"/>
          <a:lstStyle/>
          <a:p>
            <a:pPr marL="0" indent="0" algn="l">
              <a:lnSpc>
                <a:spcPts val="3300"/>
              </a:lnSpc>
              <a:buNone/>
            </a:pPr>
            <a:r>
              <a:rPr lang="en-US" sz="2650" dirty="0">
                <a:solidFill>
                  <a:srgbClr val="C6D1D6"/>
                </a:solidFill>
                <a:latin typeface="Geist Medium" pitchFamily="34" charset="0"/>
                <a:ea typeface="Geist Medium" pitchFamily="34" charset="-122"/>
                <a:cs typeface="Geist Medium" pitchFamily="34" charset="-120"/>
              </a:rPr>
              <a:t>TECHNOLOGY STACK</a:t>
            </a:r>
            <a:endParaRPr lang="en-US" sz="2650" dirty="0"/>
          </a:p>
        </p:txBody>
      </p:sp>
      <p:sp>
        <p:nvSpPr>
          <p:cNvPr id="3" name="Text 1"/>
          <p:cNvSpPr/>
          <p:nvPr/>
        </p:nvSpPr>
        <p:spPr>
          <a:xfrm>
            <a:off x="496119" y="1332384"/>
            <a:ext cx="8151763" cy="170706"/>
          </a:xfrm>
          <a:prstGeom prst="rect">
            <a:avLst/>
          </a:prstGeom>
          <a:noFill/>
          <a:ln/>
        </p:spPr>
        <p:txBody>
          <a:bodyPr wrap="none" lIns="0" tIns="0" rIns="0" bIns="0" rtlCol="0" anchor="t"/>
          <a:lstStyle/>
          <a:p>
            <a:pPr marL="0" indent="0" algn="l">
              <a:lnSpc>
                <a:spcPts val="1300"/>
              </a:lnSpc>
              <a:buNone/>
            </a:pPr>
            <a:r>
              <a:rPr lang="en-US" sz="1050" dirty="0">
                <a:solidFill>
                  <a:srgbClr val="C6D1D6"/>
                </a:solidFill>
                <a:latin typeface="Geist" pitchFamily="34" charset="0"/>
                <a:ea typeface="Geist" pitchFamily="34" charset="-122"/>
                <a:cs typeface="Geist" pitchFamily="34" charset="-120"/>
              </a:rPr>
              <a:t>AirSense Pakistan is built using a full-stack AI architecture combining modern frontend, backend, and machine learning tools.</a:t>
            </a:r>
            <a:endParaRPr lang="en-US" sz="1050" dirty="0"/>
          </a:p>
        </p:txBody>
      </p:sp>
      <p:sp>
        <p:nvSpPr>
          <p:cNvPr id="4" name="Shape 2"/>
          <p:cNvSpPr/>
          <p:nvPr/>
        </p:nvSpPr>
        <p:spPr>
          <a:xfrm>
            <a:off x="496119" y="1647006"/>
            <a:ext cx="8151763" cy="2011561"/>
          </a:xfrm>
          <a:prstGeom prst="roundRect">
            <a:avLst>
              <a:gd name="adj" fmla="val 6026"/>
            </a:avLst>
          </a:prstGeom>
          <a:noFill/>
          <a:ln w="4763">
            <a:solidFill>
              <a:srgbClr val="FFFFFF">
                <a:alpha val="24000"/>
              </a:srgbClr>
            </a:solidFill>
            <a:prstDash val="solid"/>
          </a:ln>
        </p:spPr>
      </p:sp>
      <p:sp>
        <p:nvSpPr>
          <p:cNvPr id="5" name="Shape 3"/>
          <p:cNvSpPr/>
          <p:nvPr/>
        </p:nvSpPr>
        <p:spPr>
          <a:xfrm>
            <a:off x="500881" y="1651769"/>
            <a:ext cx="8142238" cy="333673"/>
          </a:xfrm>
          <a:prstGeom prst="rect">
            <a:avLst/>
          </a:prstGeom>
          <a:solidFill>
            <a:srgbClr val="FFFFFF">
              <a:alpha val="4000"/>
            </a:srgbClr>
          </a:solidFill>
          <a:ln/>
        </p:spPr>
      </p:sp>
      <p:sp>
        <p:nvSpPr>
          <p:cNvPr id="6" name="Text 4"/>
          <p:cNvSpPr/>
          <p:nvPr/>
        </p:nvSpPr>
        <p:spPr>
          <a:xfrm>
            <a:off x="635645" y="1733252"/>
            <a:ext cx="2578150" cy="170706"/>
          </a:xfrm>
          <a:prstGeom prst="rect">
            <a:avLst/>
          </a:prstGeom>
          <a:noFill/>
          <a:ln/>
        </p:spPr>
        <p:txBody>
          <a:bodyPr wrap="none" lIns="0" tIns="0" rIns="0" bIns="0" rtlCol="0" anchor="t"/>
          <a:lstStyle/>
          <a:p>
            <a:pPr marL="0" indent="0" algn="l">
              <a:lnSpc>
                <a:spcPts val="1300"/>
              </a:lnSpc>
              <a:buNone/>
            </a:pPr>
            <a:r>
              <a:rPr lang="en-US" sz="1050" b="1" dirty="0">
                <a:solidFill>
                  <a:srgbClr val="C6D1D6"/>
                </a:solidFill>
                <a:latin typeface="Geist" pitchFamily="34" charset="0"/>
                <a:ea typeface="Geist" pitchFamily="34" charset="-122"/>
                <a:cs typeface="Geist" pitchFamily="34" charset="-120"/>
              </a:rPr>
              <a:t>Technology</a:t>
            </a:r>
            <a:endParaRPr lang="en-US" sz="1050" dirty="0"/>
          </a:p>
        </p:txBody>
      </p:sp>
      <p:sp>
        <p:nvSpPr>
          <p:cNvPr id="7" name="Text 5"/>
          <p:cNvSpPr/>
          <p:nvPr/>
        </p:nvSpPr>
        <p:spPr>
          <a:xfrm>
            <a:off x="3487787" y="1733252"/>
            <a:ext cx="1354410" cy="170706"/>
          </a:xfrm>
          <a:prstGeom prst="rect">
            <a:avLst/>
          </a:prstGeom>
          <a:noFill/>
          <a:ln/>
        </p:spPr>
        <p:txBody>
          <a:bodyPr wrap="none" lIns="0" tIns="0" rIns="0" bIns="0" rtlCol="0" anchor="t"/>
          <a:lstStyle/>
          <a:p>
            <a:pPr marL="0" indent="0" algn="l">
              <a:lnSpc>
                <a:spcPts val="1300"/>
              </a:lnSpc>
              <a:buNone/>
            </a:pPr>
            <a:r>
              <a:rPr lang="en-US" sz="1050" b="1" dirty="0">
                <a:solidFill>
                  <a:srgbClr val="C6D1D6"/>
                </a:solidFill>
                <a:latin typeface="Geist" pitchFamily="34" charset="0"/>
                <a:ea typeface="Geist" pitchFamily="34" charset="-122"/>
                <a:cs typeface="Geist" pitchFamily="34" charset="-120"/>
              </a:rPr>
              <a:t>Layer</a:t>
            </a:r>
            <a:endParaRPr lang="en-US" sz="1050" dirty="0"/>
          </a:p>
        </p:txBody>
      </p:sp>
      <p:sp>
        <p:nvSpPr>
          <p:cNvPr id="8" name="Text 6"/>
          <p:cNvSpPr/>
          <p:nvPr/>
        </p:nvSpPr>
        <p:spPr>
          <a:xfrm>
            <a:off x="5116190" y="1733252"/>
            <a:ext cx="1354410" cy="170706"/>
          </a:xfrm>
          <a:prstGeom prst="rect">
            <a:avLst/>
          </a:prstGeom>
          <a:noFill/>
          <a:ln/>
        </p:spPr>
        <p:txBody>
          <a:bodyPr wrap="none" lIns="0" tIns="0" rIns="0" bIns="0" rtlCol="0" anchor="t"/>
          <a:lstStyle/>
          <a:p>
            <a:pPr marL="0" indent="0" algn="l">
              <a:lnSpc>
                <a:spcPts val="1300"/>
              </a:lnSpc>
              <a:buNone/>
            </a:pPr>
            <a:r>
              <a:rPr lang="en-US" sz="1050" b="1" dirty="0">
                <a:solidFill>
                  <a:srgbClr val="C6D1D6"/>
                </a:solidFill>
                <a:latin typeface="Geist" pitchFamily="34" charset="0"/>
                <a:ea typeface="Geist" pitchFamily="34" charset="-122"/>
                <a:cs typeface="Geist" pitchFamily="34" charset="-120"/>
              </a:rPr>
              <a:t>Role</a:t>
            </a:r>
            <a:endParaRPr lang="en-US" sz="1050" dirty="0"/>
          </a:p>
        </p:txBody>
      </p:sp>
      <p:sp>
        <p:nvSpPr>
          <p:cNvPr id="9" name="Text 7"/>
          <p:cNvSpPr/>
          <p:nvPr/>
        </p:nvSpPr>
        <p:spPr>
          <a:xfrm>
            <a:off x="6744593" y="1733252"/>
            <a:ext cx="1763911" cy="170706"/>
          </a:xfrm>
          <a:prstGeom prst="rect">
            <a:avLst/>
          </a:prstGeom>
          <a:noFill/>
          <a:ln/>
        </p:spPr>
        <p:txBody>
          <a:bodyPr wrap="none" lIns="0" tIns="0" rIns="0" bIns="0" rtlCol="0" anchor="t"/>
          <a:lstStyle/>
          <a:p>
            <a:pPr marL="0" indent="0" algn="l">
              <a:lnSpc>
                <a:spcPts val="1300"/>
              </a:lnSpc>
              <a:buNone/>
            </a:pPr>
            <a:r>
              <a:rPr lang="en-US" sz="1050" b="1" dirty="0">
                <a:solidFill>
                  <a:srgbClr val="C6D1D6"/>
                </a:solidFill>
                <a:latin typeface="Geist" pitchFamily="34" charset="0"/>
                <a:ea typeface="Geist" pitchFamily="34" charset="-122"/>
                <a:cs typeface="Geist" pitchFamily="34" charset="-120"/>
              </a:rPr>
              <a:t>Purpose</a:t>
            </a:r>
            <a:endParaRPr lang="en-US" sz="1050" dirty="0"/>
          </a:p>
        </p:txBody>
      </p:sp>
      <p:sp>
        <p:nvSpPr>
          <p:cNvPr id="10" name="Shape 8"/>
          <p:cNvSpPr/>
          <p:nvPr/>
        </p:nvSpPr>
        <p:spPr>
          <a:xfrm>
            <a:off x="500881" y="1985442"/>
            <a:ext cx="8142238" cy="333673"/>
          </a:xfrm>
          <a:prstGeom prst="rect">
            <a:avLst/>
          </a:prstGeom>
          <a:solidFill>
            <a:srgbClr val="000000">
              <a:alpha val="4000"/>
            </a:srgbClr>
          </a:solidFill>
          <a:ln/>
        </p:spPr>
      </p:sp>
      <p:sp>
        <p:nvSpPr>
          <p:cNvPr id="11" name="Text 9"/>
          <p:cNvSpPr/>
          <p:nvPr/>
        </p:nvSpPr>
        <p:spPr>
          <a:xfrm>
            <a:off x="635645" y="2066925"/>
            <a:ext cx="2578150" cy="170706"/>
          </a:xfrm>
          <a:prstGeom prst="rect">
            <a:avLst/>
          </a:prstGeom>
          <a:noFill/>
          <a:ln/>
        </p:spPr>
        <p:txBody>
          <a:bodyPr wrap="none" lIns="0" tIns="0" rIns="0" bIns="0" rtlCol="0" anchor="t"/>
          <a:lstStyle/>
          <a:p>
            <a:pPr marL="0" indent="0" algn="l">
              <a:lnSpc>
                <a:spcPts val="1300"/>
              </a:lnSpc>
              <a:buNone/>
            </a:pPr>
            <a:r>
              <a:rPr lang="en-US" sz="1050" dirty="0">
                <a:solidFill>
                  <a:srgbClr val="C6D1D6"/>
                </a:solidFill>
                <a:latin typeface="Geist" pitchFamily="34" charset="0"/>
                <a:ea typeface="Geist" pitchFamily="34" charset="-122"/>
                <a:cs typeface="Geist" pitchFamily="34" charset="-120"/>
              </a:rPr>
              <a:t>React + Tailwind CSS</a:t>
            </a:r>
            <a:endParaRPr lang="en-US" sz="1050" dirty="0"/>
          </a:p>
        </p:txBody>
      </p:sp>
      <p:sp>
        <p:nvSpPr>
          <p:cNvPr id="12" name="Text 10"/>
          <p:cNvSpPr/>
          <p:nvPr/>
        </p:nvSpPr>
        <p:spPr>
          <a:xfrm>
            <a:off x="3487787" y="2066925"/>
            <a:ext cx="1354410" cy="170706"/>
          </a:xfrm>
          <a:prstGeom prst="rect">
            <a:avLst/>
          </a:prstGeom>
          <a:noFill/>
          <a:ln/>
        </p:spPr>
        <p:txBody>
          <a:bodyPr wrap="none" lIns="0" tIns="0" rIns="0" bIns="0" rtlCol="0" anchor="t"/>
          <a:lstStyle/>
          <a:p>
            <a:pPr marL="0" indent="0" algn="l">
              <a:lnSpc>
                <a:spcPts val="1300"/>
              </a:lnSpc>
              <a:buNone/>
            </a:pPr>
            <a:r>
              <a:rPr lang="en-US" sz="1050" dirty="0">
                <a:solidFill>
                  <a:srgbClr val="C6D1D6"/>
                </a:solidFill>
                <a:latin typeface="Geist" pitchFamily="34" charset="0"/>
                <a:ea typeface="Geist" pitchFamily="34" charset="-122"/>
                <a:cs typeface="Geist" pitchFamily="34" charset="-120"/>
              </a:rPr>
              <a:t>Frontend</a:t>
            </a:r>
            <a:endParaRPr lang="en-US" sz="1050" dirty="0"/>
          </a:p>
        </p:txBody>
      </p:sp>
      <p:sp>
        <p:nvSpPr>
          <p:cNvPr id="13" name="Text 11"/>
          <p:cNvSpPr/>
          <p:nvPr/>
        </p:nvSpPr>
        <p:spPr>
          <a:xfrm>
            <a:off x="5116190" y="2066925"/>
            <a:ext cx="1354410" cy="170706"/>
          </a:xfrm>
          <a:prstGeom prst="rect">
            <a:avLst/>
          </a:prstGeom>
          <a:noFill/>
          <a:ln/>
        </p:spPr>
        <p:txBody>
          <a:bodyPr wrap="none" lIns="0" tIns="0" rIns="0" bIns="0" rtlCol="0" anchor="t"/>
          <a:lstStyle/>
          <a:p>
            <a:pPr marL="0" indent="0" algn="l">
              <a:lnSpc>
                <a:spcPts val="1300"/>
              </a:lnSpc>
              <a:buNone/>
            </a:pPr>
            <a:r>
              <a:rPr lang="en-US" sz="1050" dirty="0">
                <a:solidFill>
                  <a:srgbClr val="C6D1D6"/>
                </a:solidFill>
                <a:latin typeface="Geist" pitchFamily="34" charset="0"/>
                <a:ea typeface="Geist" pitchFamily="34" charset="-122"/>
                <a:cs typeface="Geist" pitchFamily="34" charset="-120"/>
              </a:rPr>
              <a:t>UI / Styling</a:t>
            </a:r>
            <a:endParaRPr lang="en-US" sz="1050" dirty="0"/>
          </a:p>
        </p:txBody>
      </p:sp>
      <p:sp>
        <p:nvSpPr>
          <p:cNvPr id="14" name="Text 12"/>
          <p:cNvSpPr/>
          <p:nvPr/>
        </p:nvSpPr>
        <p:spPr>
          <a:xfrm>
            <a:off x="6744593" y="2066925"/>
            <a:ext cx="1763911" cy="170706"/>
          </a:xfrm>
          <a:prstGeom prst="rect">
            <a:avLst/>
          </a:prstGeom>
          <a:noFill/>
          <a:ln/>
        </p:spPr>
        <p:txBody>
          <a:bodyPr wrap="none" lIns="0" tIns="0" rIns="0" bIns="0" rtlCol="0" anchor="t"/>
          <a:lstStyle/>
          <a:p>
            <a:pPr marL="0" indent="0" algn="l">
              <a:lnSpc>
                <a:spcPts val="1300"/>
              </a:lnSpc>
              <a:buNone/>
            </a:pPr>
            <a:r>
              <a:rPr lang="en-US" sz="1050" dirty="0">
                <a:solidFill>
                  <a:srgbClr val="C6D1D6"/>
                </a:solidFill>
                <a:latin typeface="Geist" pitchFamily="34" charset="0"/>
                <a:ea typeface="Geist" pitchFamily="34" charset="-122"/>
                <a:cs typeface="Geist" pitchFamily="34" charset="-120"/>
              </a:rPr>
              <a:t>User dashboard</a:t>
            </a:r>
            <a:endParaRPr lang="en-US" sz="1050" dirty="0"/>
          </a:p>
        </p:txBody>
      </p:sp>
      <p:sp>
        <p:nvSpPr>
          <p:cNvPr id="15" name="Shape 13"/>
          <p:cNvSpPr/>
          <p:nvPr/>
        </p:nvSpPr>
        <p:spPr>
          <a:xfrm>
            <a:off x="500881" y="2319114"/>
            <a:ext cx="8142238" cy="333673"/>
          </a:xfrm>
          <a:prstGeom prst="rect">
            <a:avLst/>
          </a:prstGeom>
          <a:solidFill>
            <a:srgbClr val="FFFFFF">
              <a:alpha val="4000"/>
            </a:srgbClr>
          </a:solidFill>
          <a:ln/>
        </p:spPr>
      </p:sp>
      <p:sp>
        <p:nvSpPr>
          <p:cNvPr id="16" name="Text 14"/>
          <p:cNvSpPr/>
          <p:nvPr/>
        </p:nvSpPr>
        <p:spPr>
          <a:xfrm>
            <a:off x="635645" y="2400598"/>
            <a:ext cx="2578150" cy="170706"/>
          </a:xfrm>
          <a:prstGeom prst="rect">
            <a:avLst/>
          </a:prstGeom>
          <a:noFill/>
          <a:ln/>
        </p:spPr>
        <p:txBody>
          <a:bodyPr wrap="none" lIns="0" tIns="0" rIns="0" bIns="0" rtlCol="0" anchor="t"/>
          <a:lstStyle/>
          <a:p>
            <a:pPr marL="0" indent="0" algn="l">
              <a:lnSpc>
                <a:spcPts val="1300"/>
              </a:lnSpc>
              <a:buNone/>
            </a:pPr>
            <a:r>
              <a:rPr lang="en-US" sz="1050" dirty="0">
                <a:solidFill>
                  <a:srgbClr val="C6D1D6"/>
                </a:solidFill>
                <a:latin typeface="Geist" pitchFamily="34" charset="0"/>
                <a:ea typeface="Geist" pitchFamily="34" charset="-122"/>
                <a:cs typeface="Geist" pitchFamily="34" charset="-120"/>
              </a:rPr>
              <a:t>FastAPI</a:t>
            </a:r>
            <a:endParaRPr lang="en-US" sz="1050" dirty="0"/>
          </a:p>
        </p:txBody>
      </p:sp>
      <p:sp>
        <p:nvSpPr>
          <p:cNvPr id="17" name="Text 15"/>
          <p:cNvSpPr/>
          <p:nvPr/>
        </p:nvSpPr>
        <p:spPr>
          <a:xfrm>
            <a:off x="3487787" y="2400598"/>
            <a:ext cx="1354410" cy="170706"/>
          </a:xfrm>
          <a:prstGeom prst="rect">
            <a:avLst/>
          </a:prstGeom>
          <a:noFill/>
          <a:ln/>
        </p:spPr>
        <p:txBody>
          <a:bodyPr wrap="none" lIns="0" tIns="0" rIns="0" bIns="0" rtlCol="0" anchor="t"/>
          <a:lstStyle/>
          <a:p>
            <a:pPr marL="0" indent="0" algn="l">
              <a:lnSpc>
                <a:spcPts val="1300"/>
              </a:lnSpc>
              <a:buNone/>
            </a:pPr>
            <a:r>
              <a:rPr lang="en-US" sz="1050" dirty="0">
                <a:solidFill>
                  <a:srgbClr val="C6D1D6"/>
                </a:solidFill>
                <a:latin typeface="Geist" pitchFamily="34" charset="0"/>
                <a:ea typeface="Geist" pitchFamily="34" charset="-122"/>
                <a:cs typeface="Geist" pitchFamily="34" charset="-120"/>
              </a:rPr>
              <a:t>Backend</a:t>
            </a:r>
            <a:endParaRPr lang="en-US" sz="1050" dirty="0"/>
          </a:p>
        </p:txBody>
      </p:sp>
      <p:sp>
        <p:nvSpPr>
          <p:cNvPr id="18" name="Text 16"/>
          <p:cNvSpPr/>
          <p:nvPr/>
        </p:nvSpPr>
        <p:spPr>
          <a:xfrm>
            <a:off x="5116190" y="2400598"/>
            <a:ext cx="1354410" cy="170706"/>
          </a:xfrm>
          <a:prstGeom prst="rect">
            <a:avLst/>
          </a:prstGeom>
          <a:noFill/>
          <a:ln/>
        </p:spPr>
        <p:txBody>
          <a:bodyPr wrap="none" lIns="0" tIns="0" rIns="0" bIns="0" rtlCol="0" anchor="t"/>
          <a:lstStyle/>
          <a:p>
            <a:pPr marL="0" indent="0" algn="l">
              <a:lnSpc>
                <a:spcPts val="1300"/>
              </a:lnSpc>
              <a:buNone/>
            </a:pPr>
            <a:r>
              <a:rPr lang="en-US" sz="1050" dirty="0">
                <a:solidFill>
                  <a:srgbClr val="C6D1D6"/>
                </a:solidFill>
                <a:latin typeface="Geist" pitchFamily="34" charset="0"/>
                <a:ea typeface="Geist" pitchFamily="34" charset="-122"/>
                <a:cs typeface="Geist" pitchFamily="34" charset="-120"/>
              </a:rPr>
              <a:t>API Server</a:t>
            </a:r>
            <a:endParaRPr lang="en-US" sz="1050" dirty="0"/>
          </a:p>
        </p:txBody>
      </p:sp>
      <p:sp>
        <p:nvSpPr>
          <p:cNvPr id="19" name="Text 17"/>
          <p:cNvSpPr/>
          <p:nvPr/>
        </p:nvSpPr>
        <p:spPr>
          <a:xfrm>
            <a:off x="6744593" y="2400598"/>
            <a:ext cx="1763911" cy="170706"/>
          </a:xfrm>
          <a:prstGeom prst="rect">
            <a:avLst/>
          </a:prstGeom>
          <a:noFill/>
          <a:ln/>
        </p:spPr>
        <p:txBody>
          <a:bodyPr wrap="none" lIns="0" tIns="0" rIns="0" bIns="0" rtlCol="0" anchor="t"/>
          <a:lstStyle/>
          <a:p>
            <a:pPr marL="0" indent="0" algn="l">
              <a:lnSpc>
                <a:spcPts val="1300"/>
              </a:lnSpc>
              <a:buNone/>
            </a:pPr>
            <a:r>
              <a:rPr lang="en-US" sz="1050" dirty="0">
                <a:solidFill>
                  <a:srgbClr val="C6D1D6"/>
                </a:solidFill>
                <a:latin typeface="Geist" pitchFamily="34" charset="0"/>
                <a:ea typeface="Geist" pitchFamily="34" charset="-122"/>
                <a:cs typeface="Geist" pitchFamily="34" charset="-120"/>
              </a:rPr>
              <a:t>ML &amp; chatbot endpoints</a:t>
            </a:r>
            <a:endParaRPr lang="en-US" sz="1050" dirty="0"/>
          </a:p>
        </p:txBody>
      </p:sp>
      <p:sp>
        <p:nvSpPr>
          <p:cNvPr id="20" name="Shape 18"/>
          <p:cNvSpPr/>
          <p:nvPr/>
        </p:nvSpPr>
        <p:spPr>
          <a:xfrm>
            <a:off x="500881" y="2652787"/>
            <a:ext cx="8142238" cy="333673"/>
          </a:xfrm>
          <a:prstGeom prst="rect">
            <a:avLst/>
          </a:prstGeom>
          <a:solidFill>
            <a:srgbClr val="000000">
              <a:alpha val="4000"/>
            </a:srgbClr>
          </a:solidFill>
          <a:ln/>
        </p:spPr>
      </p:sp>
      <p:sp>
        <p:nvSpPr>
          <p:cNvPr id="21" name="Text 19"/>
          <p:cNvSpPr/>
          <p:nvPr/>
        </p:nvSpPr>
        <p:spPr>
          <a:xfrm>
            <a:off x="635645" y="2734270"/>
            <a:ext cx="2578150" cy="170706"/>
          </a:xfrm>
          <a:prstGeom prst="rect">
            <a:avLst/>
          </a:prstGeom>
          <a:noFill/>
          <a:ln/>
        </p:spPr>
        <p:txBody>
          <a:bodyPr wrap="none" lIns="0" tIns="0" rIns="0" bIns="0" rtlCol="0" anchor="t"/>
          <a:lstStyle/>
          <a:p>
            <a:pPr marL="0" indent="0" algn="l">
              <a:lnSpc>
                <a:spcPts val="1300"/>
              </a:lnSpc>
              <a:buNone/>
            </a:pPr>
            <a:r>
              <a:rPr lang="en-US" sz="1050" dirty="0">
                <a:solidFill>
                  <a:srgbClr val="C6D1D6"/>
                </a:solidFill>
                <a:latin typeface="Geist" pitchFamily="34" charset="0"/>
                <a:ea typeface="Geist" pitchFamily="34" charset="-122"/>
                <a:cs typeface="Geist" pitchFamily="34" charset="-120"/>
              </a:rPr>
              <a:t>Scikit-learn + Joblib</a:t>
            </a:r>
            <a:endParaRPr lang="en-US" sz="1050" dirty="0"/>
          </a:p>
        </p:txBody>
      </p:sp>
      <p:sp>
        <p:nvSpPr>
          <p:cNvPr id="22" name="Text 20"/>
          <p:cNvSpPr/>
          <p:nvPr/>
        </p:nvSpPr>
        <p:spPr>
          <a:xfrm>
            <a:off x="3487787" y="2734270"/>
            <a:ext cx="1354410" cy="170706"/>
          </a:xfrm>
          <a:prstGeom prst="rect">
            <a:avLst/>
          </a:prstGeom>
          <a:noFill/>
          <a:ln/>
        </p:spPr>
        <p:txBody>
          <a:bodyPr wrap="none" lIns="0" tIns="0" rIns="0" bIns="0" rtlCol="0" anchor="t"/>
          <a:lstStyle/>
          <a:p>
            <a:pPr marL="0" indent="0" algn="l">
              <a:lnSpc>
                <a:spcPts val="1300"/>
              </a:lnSpc>
              <a:buNone/>
            </a:pPr>
            <a:r>
              <a:rPr lang="en-US" sz="1050" dirty="0">
                <a:solidFill>
                  <a:srgbClr val="C6D1D6"/>
                </a:solidFill>
                <a:latin typeface="Geist" pitchFamily="34" charset="0"/>
                <a:ea typeface="Geist" pitchFamily="34" charset="-122"/>
                <a:cs typeface="Geist" pitchFamily="34" charset="-120"/>
              </a:rPr>
              <a:t>AI / ML</a:t>
            </a:r>
            <a:endParaRPr lang="en-US" sz="1050" dirty="0"/>
          </a:p>
        </p:txBody>
      </p:sp>
      <p:sp>
        <p:nvSpPr>
          <p:cNvPr id="23" name="Text 21"/>
          <p:cNvSpPr/>
          <p:nvPr/>
        </p:nvSpPr>
        <p:spPr>
          <a:xfrm>
            <a:off x="5116190" y="2734270"/>
            <a:ext cx="1354410" cy="170706"/>
          </a:xfrm>
          <a:prstGeom prst="rect">
            <a:avLst/>
          </a:prstGeom>
          <a:noFill/>
          <a:ln/>
        </p:spPr>
        <p:txBody>
          <a:bodyPr wrap="none" lIns="0" tIns="0" rIns="0" bIns="0" rtlCol="0" anchor="t"/>
          <a:lstStyle/>
          <a:p>
            <a:pPr marL="0" indent="0" algn="l">
              <a:lnSpc>
                <a:spcPts val="1300"/>
              </a:lnSpc>
              <a:buNone/>
            </a:pPr>
            <a:r>
              <a:rPr lang="en-US" sz="1050" dirty="0">
                <a:solidFill>
                  <a:srgbClr val="C6D1D6"/>
                </a:solidFill>
                <a:latin typeface="Geist" pitchFamily="34" charset="0"/>
                <a:ea typeface="Geist" pitchFamily="34" charset="-122"/>
                <a:cs typeface="Geist" pitchFamily="34" charset="-120"/>
              </a:rPr>
              <a:t>Model training</a:t>
            </a:r>
            <a:endParaRPr lang="en-US" sz="1050" dirty="0"/>
          </a:p>
        </p:txBody>
      </p:sp>
      <p:sp>
        <p:nvSpPr>
          <p:cNvPr id="24" name="Text 22"/>
          <p:cNvSpPr/>
          <p:nvPr/>
        </p:nvSpPr>
        <p:spPr>
          <a:xfrm>
            <a:off x="6744593" y="2734270"/>
            <a:ext cx="1763911" cy="170706"/>
          </a:xfrm>
          <a:prstGeom prst="rect">
            <a:avLst/>
          </a:prstGeom>
          <a:noFill/>
          <a:ln/>
        </p:spPr>
        <p:txBody>
          <a:bodyPr wrap="none" lIns="0" tIns="0" rIns="0" bIns="0" rtlCol="0" anchor="t"/>
          <a:lstStyle/>
          <a:p>
            <a:pPr marL="0" indent="0" algn="l">
              <a:lnSpc>
                <a:spcPts val="1300"/>
              </a:lnSpc>
              <a:buNone/>
            </a:pPr>
            <a:r>
              <a:rPr lang="en-US" sz="1050" dirty="0">
                <a:solidFill>
                  <a:srgbClr val="C6D1D6"/>
                </a:solidFill>
                <a:latin typeface="Geist" pitchFamily="34" charset="0"/>
                <a:ea typeface="Geist" pitchFamily="34" charset="-122"/>
                <a:cs typeface="Geist" pitchFamily="34" charset="-120"/>
              </a:rPr>
              <a:t>Health risk prediction</a:t>
            </a:r>
            <a:endParaRPr lang="en-US" sz="1050" dirty="0"/>
          </a:p>
        </p:txBody>
      </p:sp>
      <p:sp>
        <p:nvSpPr>
          <p:cNvPr id="25" name="Shape 23"/>
          <p:cNvSpPr/>
          <p:nvPr/>
        </p:nvSpPr>
        <p:spPr>
          <a:xfrm>
            <a:off x="500881" y="2986460"/>
            <a:ext cx="8142238" cy="333673"/>
          </a:xfrm>
          <a:prstGeom prst="rect">
            <a:avLst/>
          </a:prstGeom>
          <a:solidFill>
            <a:srgbClr val="FFFFFF">
              <a:alpha val="4000"/>
            </a:srgbClr>
          </a:solidFill>
          <a:ln/>
        </p:spPr>
      </p:sp>
      <p:sp>
        <p:nvSpPr>
          <p:cNvPr id="26" name="Text 24"/>
          <p:cNvSpPr/>
          <p:nvPr/>
        </p:nvSpPr>
        <p:spPr>
          <a:xfrm>
            <a:off x="635645" y="3067943"/>
            <a:ext cx="2578150" cy="170706"/>
          </a:xfrm>
          <a:prstGeom prst="rect">
            <a:avLst/>
          </a:prstGeom>
          <a:noFill/>
          <a:ln/>
        </p:spPr>
        <p:txBody>
          <a:bodyPr wrap="none" lIns="0" tIns="0" rIns="0" bIns="0" rtlCol="0" anchor="t"/>
          <a:lstStyle/>
          <a:p>
            <a:pPr marL="0" indent="0" algn="l">
              <a:lnSpc>
                <a:spcPts val="1300"/>
              </a:lnSpc>
              <a:buNone/>
            </a:pPr>
            <a:r>
              <a:rPr lang="en-US" sz="1050" dirty="0">
                <a:solidFill>
                  <a:srgbClr val="C6D1D6"/>
                </a:solidFill>
                <a:latin typeface="Geist" pitchFamily="34" charset="0"/>
                <a:ea typeface="Geist" pitchFamily="34" charset="-122"/>
                <a:cs typeface="Geist" pitchFamily="34" charset="-120"/>
              </a:rPr>
              <a:t>Gemini API</a:t>
            </a:r>
            <a:endParaRPr lang="en-US" sz="1050" dirty="0"/>
          </a:p>
        </p:txBody>
      </p:sp>
      <p:sp>
        <p:nvSpPr>
          <p:cNvPr id="27" name="Text 25"/>
          <p:cNvSpPr/>
          <p:nvPr/>
        </p:nvSpPr>
        <p:spPr>
          <a:xfrm>
            <a:off x="3487787" y="3067943"/>
            <a:ext cx="1354410" cy="170706"/>
          </a:xfrm>
          <a:prstGeom prst="rect">
            <a:avLst/>
          </a:prstGeom>
          <a:noFill/>
          <a:ln/>
        </p:spPr>
        <p:txBody>
          <a:bodyPr wrap="none" lIns="0" tIns="0" rIns="0" bIns="0" rtlCol="0" anchor="t"/>
          <a:lstStyle/>
          <a:p>
            <a:pPr marL="0" indent="0" algn="l">
              <a:lnSpc>
                <a:spcPts val="1300"/>
              </a:lnSpc>
              <a:buNone/>
            </a:pPr>
            <a:r>
              <a:rPr lang="en-US" sz="1050" dirty="0">
                <a:solidFill>
                  <a:srgbClr val="C6D1D6"/>
                </a:solidFill>
                <a:latin typeface="Geist" pitchFamily="34" charset="0"/>
                <a:ea typeface="Geist" pitchFamily="34" charset="-122"/>
                <a:cs typeface="Geist" pitchFamily="34" charset="-120"/>
              </a:rPr>
              <a:t>Gen AI</a:t>
            </a:r>
            <a:endParaRPr lang="en-US" sz="1050" dirty="0"/>
          </a:p>
        </p:txBody>
      </p:sp>
      <p:sp>
        <p:nvSpPr>
          <p:cNvPr id="28" name="Text 26"/>
          <p:cNvSpPr/>
          <p:nvPr/>
        </p:nvSpPr>
        <p:spPr>
          <a:xfrm>
            <a:off x="5116190" y="3067943"/>
            <a:ext cx="1354410" cy="170706"/>
          </a:xfrm>
          <a:prstGeom prst="rect">
            <a:avLst/>
          </a:prstGeom>
          <a:noFill/>
          <a:ln/>
        </p:spPr>
        <p:txBody>
          <a:bodyPr wrap="none" lIns="0" tIns="0" rIns="0" bIns="0" rtlCol="0" anchor="t"/>
          <a:lstStyle/>
          <a:p>
            <a:pPr marL="0" indent="0" algn="l">
              <a:lnSpc>
                <a:spcPts val="1300"/>
              </a:lnSpc>
              <a:buNone/>
            </a:pPr>
            <a:r>
              <a:rPr lang="en-US" sz="1050" dirty="0">
                <a:solidFill>
                  <a:srgbClr val="C6D1D6"/>
                </a:solidFill>
                <a:latin typeface="Geist" pitchFamily="34" charset="0"/>
                <a:ea typeface="Geist" pitchFamily="34" charset="-122"/>
                <a:cs typeface="Geist" pitchFamily="34" charset="-120"/>
              </a:rPr>
              <a:t>Chatbot</a:t>
            </a:r>
            <a:endParaRPr lang="en-US" sz="1050" dirty="0"/>
          </a:p>
        </p:txBody>
      </p:sp>
      <p:sp>
        <p:nvSpPr>
          <p:cNvPr id="29" name="Text 27"/>
          <p:cNvSpPr/>
          <p:nvPr/>
        </p:nvSpPr>
        <p:spPr>
          <a:xfrm>
            <a:off x="6744593" y="3067943"/>
            <a:ext cx="1763911" cy="170706"/>
          </a:xfrm>
          <a:prstGeom prst="rect">
            <a:avLst/>
          </a:prstGeom>
          <a:noFill/>
          <a:ln/>
        </p:spPr>
        <p:txBody>
          <a:bodyPr wrap="none" lIns="0" tIns="0" rIns="0" bIns="0" rtlCol="0" anchor="t"/>
          <a:lstStyle/>
          <a:p>
            <a:pPr marL="0" indent="0" algn="l">
              <a:lnSpc>
                <a:spcPts val="1300"/>
              </a:lnSpc>
              <a:buNone/>
            </a:pPr>
            <a:r>
              <a:rPr lang="en-US" sz="1050" dirty="0">
                <a:solidFill>
                  <a:srgbClr val="C6D1D6"/>
                </a:solidFill>
                <a:latin typeface="Geist" pitchFamily="34" charset="0"/>
                <a:ea typeface="Geist" pitchFamily="34" charset="-122"/>
                <a:cs typeface="Geist" pitchFamily="34" charset="-120"/>
              </a:rPr>
              <a:t>Health Q&amp;A responses</a:t>
            </a:r>
            <a:endParaRPr lang="en-US" sz="1050" dirty="0"/>
          </a:p>
        </p:txBody>
      </p:sp>
      <p:sp>
        <p:nvSpPr>
          <p:cNvPr id="30" name="Shape 28"/>
          <p:cNvSpPr/>
          <p:nvPr/>
        </p:nvSpPr>
        <p:spPr>
          <a:xfrm>
            <a:off x="500881" y="3320132"/>
            <a:ext cx="8142238" cy="333673"/>
          </a:xfrm>
          <a:prstGeom prst="rect">
            <a:avLst/>
          </a:prstGeom>
          <a:solidFill>
            <a:srgbClr val="000000">
              <a:alpha val="4000"/>
            </a:srgbClr>
          </a:solidFill>
          <a:ln/>
        </p:spPr>
      </p:sp>
      <p:sp>
        <p:nvSpPr>
          <p:cNvPr id="31" name="Text 29"/>
          <p:cNvSpPr/>
          <p:nvPr/>
        </p:nvSpPr>
        <p:spPr>
          <a:xfrm>
            <a:off x="635645" y="3401616"/>
            <a:ext cx="2578150" cy="170706"/>
          </a:xfrm>
          <a:prstGeom prst="rect">
            <a:avLst/>
          </a:prstGeom>
          <a:noFill/>
          <a:ln/>
        </p:spPr>
        <p:txBody>
          <a:bodyPr wrap="none" lIns="0" tIns="0" rIns="0" bIns="0" rtlCol="0" anchor="t"/>
          <a:lstStyle/>
          <a:p>
            <a:pPr marL="0" indent="0" algn="l">
              <a:lnSpc>
                <a:spcPts val="1300"/>
              </a:lnSpc>
              <a:buNone/>
            </a:pPr>
            <a:r>
              <a:rPr lang="en-US" sz="1050" dirty="0">
                <a:solidFill>
                  <a:srgbClr val="C6D1D6"/>
                </a:solidFill>
                <a:latin typeface="Geist" pitchFamily="34" charset="0"/>
                <a:ea typeface="Geist" pitchFamily="34" charset="-122"/>
                <a:cs typeface="Geist" pitchFamily="34" charset="-120"/>
              </a:rPr>
              <a:t>Recharts + React Leaflet</a:t>
            </a:r>
            <a:endParaRPr lang="en-US" sz="1050" dirty="0"/>
          </a:p>
        </p:txBody>
      </p:sp>
      <p:sp>
        <p:nvSpPr>
          <p:cNvPr id="32" name="Text 30"/>
          <p:cNvSpPr/>
          <p:nvPr/>
        </p:nvSpPr>
        <p:spPr>
          <a:xfrm>
            <a:off x="3487787" y="3401616"/>
            <a:ext cx="1354410" cy="170706"/>
          </a:xfrm>
          <a:prstGeom prst="rect">
            <a:avLst/>
          </a:prstGeom>
          <a:noFill/>
          <a:ln/>
        </p:spPr>
        <p:txBody>
          <a:bodyPr wrap="none" lIns="0" tIns="0" rIns="0" bIns="0" rtlCol="0" anchor="t"/>
          <a:lstStyle/>
          <a:p>
            <a:pPr marL="0" indent="0" algn="l">
              <a:lnSpc>
                <a:spcPts val="1300"/>
              </a:lnSpc>
              <a:buNone/>
            </a:pPr>
            <a:r>
              <a:rPr lang="en-US" sz="1050" dirty="0">
                <a:solidFill>
                  <a:srgbClr val="C6D1D6"/>
                </a:solidFill>
                <a:latin typeface="Geist" pitchFamily="34" charset="0"/>
                <a:ea typeface="Geist" pitchFamily="34" charset="-122"/>
                <a:cs typeface="Geist" pitchFamily="34" charset="-120"/>
              </a:rPr>
              <a:t>Visualization</a:t>
            </a:r>
            <a:endParaRPr lang="en-US" sz="1050" dirty="0"/>
          </a:p>
        </p:txBody>
      </p:sp>
      <p:sp>
        <p:nvSpPr>
          <p:cNvPr id="33" name="Text 31"/>
          <p:cNvSpPr/>
          <p:nvPr/>
        </p:nvSpPr>
        <p:spPr>
          <a:xfrm>
            <a:off x="5116190" y="3401616"/>
            <a:ext cx="1354410" cy="170706"/>
          </a:xfrm>
          <a:prstGeom prst="rect">
            <a:avLst/>
          </a:prstGeom>
          <a:noFill/>
          <a:ln/>
        </p:spPr>
        <p:txBody>
          <a:bodyPr wrap="none" lIns="0" tIns="0" rIns="0" bIns="0" rtlCol="0" anchor="t"/>
          <a:lstStyle/>
          <a:p>
            <a:pPr marL="0" indent="0" algn="l">
              <a:lnSpc>
                <a:spcPts val="1300"/>
              </a:lnSpc>
              <a:buNone/>
            </a:pPr>
            <a:r>
              <a:rPr lang="en-US" sz="1050" dirty="0">
                <a:solidFill>
                  <a:srgbClr val="C6D1D6"/>
                </a:solidFill>
                <a:latin typeface="Geist" pitchFamily="34" charset="0"/>
                <a:ea typeface="Geist" pitchFamily="34" charset="-122"/>
                <a:cs typeface="Geist" pitchFamily="34" charset="-120"/>
              </a:rPr>
              <a:t>Charts &amp; Maps</a:t>
            </a:r>
            <a:endParaRPr lang="en-US" sz="1050" dirty="0"/>
          </a:p>
        </p:txBody>
      </p:sp>
      <p:sp>
        <p:nvSpPr>
          <p:cNvPr id="34" name="Text 32"/>
          <p:cNvSpPr/>
          <p:nvPr/>
        </p:nvSpPr>
        <p:spPr>
          <a:xfrm>
            <a:off x="6744593" y="3401616"/>
            <a:ext cx="1763911" cy="170706"/>
          </a:xfrm>
          <a:prstGeom prst="rect">
            <a:avLst/>
          </a:prstGeom>
          <a:noFill/>
          <a:ln/>
        </p:spPr>
        <p:txBody>
          <a:bodyPr wrap="none" lIns="0" tIns="0" rIns="0" bIns="0" rtlCol="0" anchor="t"/>
          <a:lstStyle/>
          <a:p>
            <a:pPr marL="0" indent="0" algn="l">
              <a:lnSpc>
                <a:spcPts val="1300"/>
              </a:lnSpc>
              <a:buNone/>
            </a:pPr>
            <a:r>
              <a:rPr lang="en-US" sz="1050" dirty="0">
                <a:solidFill>
                  <a:srgbClr val="C6D1D6"/>
                </a:solidFill>
                <a:latin typeface="Geist" pitchFamily="34" charset="0"/>
                <a:ea typeface="Geist" pitchFamily="34" charset="-122"/>
                <a:cs typeface="Geist" pitchFamily="34" charset="-120"/>
              </a:rPr>
              <a:t>AQI graph &amp; pollution map</a:t>
            </a:r>
            <a:endParaRPr lang="en-US" sz="1050" dirty="0"/>
          </a:p>
        </p:txBody>
      </p:sp>
      <p:sp>
        <p:nvSpPr>
          <p:cNvPr id="35" name="Shape 33"/>
          <p:cNvSpPr/>
          <p:nvPr/>
        </p:nvSpPr>
        <p:spPr>
          <a:xfrm>
            <a:off x="496119" y="3802484"/>
            <a:ext cx="8151763" cy="685354"/>
          </a:xfrm>
          <a:prstGeom prst="roundRect">
            <a:avLst>
              <a:gd name="adj" fmla="val 17686"/>
            </a:avLst>
          </a:prstGeom>
          <a:solidFill>
            <a:srgbClr val="022349"/>
          </a:solidFill>
          <a:ln/>
        </p:spPr>
      </p:sp>
      <p:pic>
        <p:nvPicPr>
          <p:cNvPr id="36" name="Image 0" descr="preencoded.png"/>
          <p:cNvPicPr>
            <a:picLocks noChangeAspect="1"/>
          </p:cNvPicPr>
          <p:nvPr/>
        </p:nvPicPr>
        <p:blipFill>
          <a:blip r:embed="rId3"/>
          <a:stretch>
            <a:fillRect/>
          </a:stretch>
        </p:blipFill>
        <p:spPr>
          <a:xfrm>
            <a:off x="630734" y="3981524"/>
            <a:ext cx="168325" cy="134615"/>
          </a:xfrm>
          <a:prstGeom prst="rect">
            <a:avLst/>
          </a:prstGeom>
        </p:spPr>
      </p:pic>
      <p:sp>
        <p:nvSpPr>
          <p:cNvPr id="37" name="Text 34"/>
          <p:cNvSpPr/>
          <p:nvPr/>
        </p:nvSpPr>
        <p:spPr>
          <a:xfrm>
            <a:off x="933673" y="3964037"/>
            <a:ext cx="7579593" cy="341412"/>
          </a:xfrm>
          <a:prstGeom prst="rect">
            <a:avLst/>
          </a:prstGeom>
          <a:noFill/>
          <a:ln/>
        </p:spPr>
        <p:txBody>
          <a:bodyPr wrap="square" lIns="0" tIns="0" rIns="0" bIns="0" rtlCol="0" anchor="t"/>
          <a:lstStyle/>
          <a:p>
            <a:pPr marL="0" indent="0" algn="l">
              <a:lnSpc>
                <a:spcPts val="1300"/>
              </a:lnSpc>
              <a:buNone/>
            </a:pPr>
            <a:r>
              <a:rPr lang="en-US" sz="1050" dirty="0">
                <a:solidFill>
                  <a:srgbClr val="FFFFFF"/>
                </a:solidFill>
                <a:latin typeface="Geist" pitchFamily="34" charset="0"/>
                <a:ea typeface="Geist" pitchFamily="34" charset="-122"/>
                <a:cs typeface="Geist" pitchFamily="34" charset="-120"/>
              </a:rPr>
              <a:t>AirSense Pakistan is an AI-powered air pollution health prediction system developed using React, FastAPI, Machine Learning, and Gemini AI.</a:t>
            </a:r>
            <a:endParaRPr lang="en-US" sz="1050" dirty="0"/>
          </a:p>
        </p:txBody>
      </p:sp>
      <p:sp>
        <p:nvSpPr>
          <p:cNvPr id="38" name="Rectangle 37"/>
          <p:cNvSpPr/>
          <p:nvPr/>
        </p:nvSpPr>
        <p:spPr>
          <a:xfrm>
            <a:off x="8080513" y="4850296"/>
            <a:ext cx="983974" cy="2186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638324"/>
            <a:ext cx="7948687" cy="442987"/>
          </a:xfrm>
          <a:prstGeom prst="rect">
            <a:avLst/>
          </a:prstGeom>
          <a:noFill/>
          <a:ln/>
        </p:spPr>
        <p:txBody>
          <a:bodyPr wrap="none" lIns="0" tIns="0" rIns="0" bIns="0" rtlCol="0" anchor="t"/>
          <a:lstStyle/>
          <a:p>
            <a:pPr marL="0" indent="0" algn="l">
              <a:lnSpc>
                <a:spcPts val="3450"/>
              </a:lnSpc>
              <a:buNone/>
            </a:pPr>
            <a:r>
              <a:rPr lang="en-US" sz="2750" dirty="0">
                <a:solidFill>
                  <a:srgbClr val="C6D1D6"/>
                </a:solidFill>
                <a:latin typeface="Geist Medium" pitchFamily="34" charset="0"/>
                <a:ea typeface="Geist Medium" pitchFamily="34" charset="-122"/>
                <a:cs typeface="Geist Medium" pitchFamily="34" charset="-120"/>
              </a:rPr>
              <a:t>LIVE DASHBOARD — WHAT EACH CARD SHOWS</a:t>
            </a:r>
            <a:endParaRPr lang="en-US" sz="2750" dirty="0"/>
          </a:p>
        </p:txBody>
      </p:sp>
      <p:sp>
        <p:nvSpPr>
          <p:cNvPr id="3" name="Text 1"/>
          <p:cNvSpPr/>
          <p:nvPr/>
        </p:nvSpPr>
        <p:spPr>
          <a:xfrm>
            <a:off x="496119" y="1138014"/>
            <a:ext cx="7815635" cy="221456"/>
          </a:xfrm>
          <a:prstGeom prst="rect">
            <a:avLst/>
          </a:prstGeom>
          <a:noFill/>
          <a:ln/>
        </p:spPr>
        <p:txBody>
          <a:bodyPr wrap="none" lIns="0" tIns="0" rIns="0" bIns="0" rtlCol="0" anchor="t"/>
          <a:lstStyle/>
          <a:p>
            <a:pPr marL="0" indent="0" algn="l">
              <a:lnSpc>
                <a:spcPts val="1700"/>
              </a:lnSpc>
              <a:buNone/>
            </a:pPr>
            <a:r>
              <a:rPr lang="en-US" sz="1350" dirty="0">
                <a:solidFill>
                  <a:srgbClr val="C6D1D6"/>
                </a:solidFill>
                <a:latin typeface="Geist Medium" pitchFamily="34" charset="0"/>
                <a:ea typeface="Geist Medium" pitchFamily="34" charset="-122"/>
                <a:cs typeface="Geist Medium" pitchFamily="34" charset="-120"/>
              </a:rPr>
              <a:t>REAL-TIME POLLUTION INSIGHTS, AI HEALTH ANALYSIS, AND AQI PREDICTION IN ONE SCREEN</a:t>
            </a:r>
            <a:endParaRPr lang="en-US" sz="1350" dirty="0"/>
          </a:p>
        </p:txBody>
      </p:sp>
      <p:sp>
        <p:nvSpPr>
          <p:cNvPr id="4" name="Shape 2"/>
          <p:cNvSpPr/>
          <p:nvPr/>
        </p:nvSpPr>
        <p:spPr>
          <a:xfrm>
            <a:off x="496119" y="1572071"/>
            <a:ext cx="1931566" cy="2029569"/>
          </a:xfrm>
          <a:prstGeom prst="roundRect">
            <a:avLst>
              <a:gd name="adj" fmla="val 4734"/>
            </a:avLst>
          </a:prstGeom>
          <a:solidFill>
            <a:srgbClr val="040C1A">
              <a:alpha val="95000"/>
            </a:srgbClr>
          </a:solidFill>
          <a:ln w="19050">
            <a:solidFill>
              <a:srgbClr val="2C3A4C"/>
            </a:solidFill>
            <a:prstDash val="solid"/>
          </a:ln>
        </p:spPr>
      </p:sp>
      <p:sp>
        <p:nvSpPr>
          <p:cNvPr id="5" name="Shape 3"/>
          <p:cNvSpPr/>
          <p:nvPr/>
        </p:nvSpPr>
        <p:spPr>
          <a:xfrm>
            <a:off x="477069" y="1572071"/>
            <a:ext cx="76200" cy="2029569"/>
          </a:xfrm>
          <a:prstGeom prst="roundRect">
            <a:avLst>
              <a:gd name="adj" fmla="val 167442"/>
            </a:avLst>
          </a:prstGeom>
          <a:solidFill>
            <a:srgbClr val="2C3A4C"/>
          </a:solidFill>
          <a:ln/>
        </p:spPr>
      </p:sp>
      <p:sp>
        <p:nvSpPr>
          <p:cNvPr id="6" name="Text 4"/>
          <p:cNvSpPr/>
          <p:nvPr/>
        </p:nvSpPr>
        <p:spPr>
          <a:xfrm>
            <a:off x="714077" y="1732880"/>
            <a:ext cx="1552798" cy="442913"/>
          </a:xfrm>
          <a:prstGeom prst="rect">
            <a:avLst/>
          </a:prstGeom>
          <a:noFill/>
          <a:ln/>
        </p:spPr>
        <p:txBody>
          <a:bodyPr wrap="square" lIns="0" tIns="0" rIns="0" bIns="0" rtlCol="0" anchor="t"/>
          <a:lstStyle/>
          <a:p>
            <a:pPr marL="0" indent="0" algn="l">
              <a:lnSpc>
                <a:spcPts val="1700"/>
              </a:lnSpc>
              <a:buNone/>
            </a:pPr>
            <a:r>
              <a:rPr lang="en-US" sz="1350" dirty="0">
                <a:solidFill>
                  <a:srgbClr val="000000"/>
                </a:solidFill>
                <a:latin typeface="Geist Medium" pitchFamily="34" charset="0"/>
                <a:ea typeface="Geist Medium" pitchFamily="34" charset="-122"/>
                <a:cs typeface="Geist Medium" pitchFamily="34" charset="-120"/>
              </a:rPr>
              <a:t>🔴</a:t>
            </a:r>
            <a:r>
              <a:rPr lang="en-US" sz="1350" dirty="0">
                <a:solidFill>
                  <a:srgbClr val="C6D1D6"/>
                </a:solidFill>
                <a:latin typeface="Geist Medium" pitchFamily="34" charset="0"/>
                <a:ea typeface="Geist Medium" pitchFamily="34" charset="-122"/>
                <a:cs typeface="Geist Medium" pitchFamily="34" charset="-120"/>
              </a:rPr>
              <a:t> AQI Card — 162 (Unhealthy)</a:t>
            </a:r>
            <a:endParaRPr lang="en-US" sz="1350" dirty="0"/>
          </a:p>
        </p:txBody>
      </p:sp>
      <p:sp>
        <p:nvSpPr>
          <p:cNvPr id="7" name="Text 5"/>
          <p:cNvSpPr/>
          <p:nvPr/>
        </p:nvSpPr>
        <p:spPr>
          <a:xfrm>
            <a:off x="714077" y="2260848"/>
            <a:ext cx="1552798" cy="737071"/>
          </a:xfrm>
          <a:prstGeom prst="rect">
            <a:avLst/>
          </a:prstGeom>
          <a:noFill/>
          <a:ln/>
        </p:spPr>
        <p:txBody>
          <a:bodyPr wrap="square" lIns="0" tIns="0" rIns="0" bIns="0" rtlCol="0" anchor="t"/>
          <a:lstStyle/>
          <a:p>
            <a:pPr marL="0" indent="0" algn="l">
              <a:lnSpc>
                <a:spcPts val="1150"/>
              </a:lnSpc>
              <a:buNone/>
            </a:pPr>
            <a:r>
              <a:rPr lang="en-US" sz="850" dirty="0">
                <a:solidFill>
                  <a:srgbClr val="C6D1D6"/>
                </a:solidFill>
                <a:latin typeface="Geist" pitchFamily="34" charset="0"/>
                <a:ea typeface="Geist" pitchFamily="34" charset="-122"/>
                <a:cs typeface="Geist" pitchFamily="34" charset="-120"/>
              </a:rPr>
              <a:t>Shows current Air Quality Index. At 162, air is unhealthy — sensitive people face breathing problems and long outdoor exposure is unsafe.</a:t>
            </a:r>
            <a:endParaRPr lang="en-US" sz="850" dirty="0"/>
          </a:p>
        </p:txBody>
      </p:sp>
      <p:sp>
        <p:nvSpPr>
          <p:cNvPr id="8" name="Shape 6"/>
          <p:cNvSpPr/>
          <p:nvPr/>
        </p:nvSpPr>
        <p:spPr>
          <a:xfrm>
            <a:off x="2569443" y="1572071"/>
            <a:ext cx="1931640" cy="2029569"/>
          </a:xfrm>
          <a:prstGeom prst="roundRect">
            <a:avLst>
              <a:gd name="adj" fmla="val 4734"/>
            </a:avLst>
          </a:prstGeom>
          <a:solidFill>
            <a:srgbClr val="040C1A">
              <a:alpha val="95000"/>
            </a:srgbClr>
          </a:solidFill>
          <a:ln w="19050">
            <a:solidFill>
              <a:srgbClr val="4B5F76"/>
            </a:solidFill>
            <a:prstDash val="solid"/>
          </a:ln>
        </p:spPr>
      </p:sp>
      <p:sp>
        <p:nvSpPr>
          <p:cNvPr id="9" name="Shape 7"/>
          <p:cNvSpPr/>
          <p:nvPr/>
        </p:nvSpPr>
        <p:spPr>
          <a:xfrm>
            <a:off x="2550393" y="1572071"/>
            <a:ext cx="76200" cy="2029569"/>
          </a:xfrm>
          <a:prstGeom prst="roundRect">
            <a:avLst>
              <a:gd name="adj" fmla="val 167442"/>
            </a:avLst>
          </a:prstGeom>
          <a:solidFill>
            <a:srgbClr val="4B5F76"/>
          </a:solidFill>
          <a:ln/>
        </p:spPr>
      </p:sp>
      <p:sp>
        <p:nvSpPr>
          <p:cNvPr id="10" name="Text 8"/>
          <p:cNvSpPr/>
          <p:nvPr/>
        </p:nvSpPr>
        <p:spPr>
          <a:xfrm>
            <a:off x="2787402" y="1732880"/>
            <a:ext cx="1552873" cy="442913"/>
          </a:xfrm>
          <a:prstGeom prst="rect">
            <a:avLst/>
          </a:prstGeom>
          <a:noFill/>
          <a:ln/>
        </p:spPr>
        <p:txBody>
          <a:bodyPr wrap="square" lIns="0" tIns="0" rIns="0" bIns="0" rtlCol="0" anchor="t"/>
          <a:lstStyle/>
          <a:p>
            <a:pPr marL="0" indent="0" algn="l">
              <a:lnSpc>
                <a:spcPts val="1700"/>
              </a:lnSpc>
              <a:buNone/>
            </a:pPr>
            <a:r>
              <a:rPr lang="en-US" sz="1350" dirty="0">
                <a:solidFill>
                  <a:srgbClr val="000000"/>
                </a:solidFill>
                <a:latin typeface="Geist Medium" pitchFamily="34" charset="0"/>
                <a:ea typeface="Geist Medium" pitchFamily="34" charset="-122"/>
                <a:cs typeface="Geist Medium" pitchFamily="34" charset="-120"/>
              </a:rPr>
              <a:t>🌫️</a:t>
            </a:r>
            <a:r>
              <a:rPr lang="en-US" sz="1350" dirty="0">
                <a:solidFill>
                  <a:srgbClr val="C6D1D6"/>
                </a:solidFill>
                <a:latin typeface="Geist Medium" pitchFamily="34" charset="0"/>
                <a:ea typeface="Geist Medium" pitchFamily="34" charset="-122"/>
                <a:cs typeface="Geist Medium" pitchFamily="34" charset="-120"/>
              </a:rPr>
              <a:t> PM2.5 Card — 88 µg/m³</a:t>
            </a:r>
            <a:endParaRPr lang="en-US" sz="1350" dirty="0"/>
          </a:p>
        </p:txBody>
      </p:sp>
      <p:sp>
        <p:nvSpPr>
          <p:cNvPr id="11" name="Text 9"/>
          <p:cNvSpPr/>
          <p:nvPr/>
        </p:nvSpPr>
        <p:spPr>
          <a:xfrm>
            <a:off x="2787402" y="2260848"/>
            <a:ext cx="1552873" cy="737071"/>
          </a:xfrm>
          <a:prstGeom prst="rect">
            <a:avLst/>
          </a:prstGeom>
          <a:noFill/>
          <a:ln/>
        </p:spPr>
        <p:txBody>
          <a:bodyPr wrap="square" lIns="0" tIns="0" rIns="0" bIns="0" rtlCol="0" anchor="t"/>
          <a:lstStyle/>
          <a:p>
            <a:pPr marL="0" indent="0" algn="l">
              <a:lnSpc>
                <a:spcPts val="1150"/>
              </a:lnSpc>
              <a:buNone/>
            </a:pPr>
            <a:r>
              <a:rPr lang="en-US" sz="850" dirty="0">
                <a:solidFill>
                  <a:srgbClr val="C6D1D6"/>
                </a:solidFill>
                <a:latin typeface="Geist" pitchFamily="34" charset="0"/>
                <a:ea typeface="Geist" pitchFamily="34" charset="-122"/>
                <a:cs typeface="Geist" pitchFamily="34" charset="-120"/>
              </a:rPr>
              <a:t>Displays microscopic harmful particle concentration. 88 µg/m³ is considered very high, indicating serious pollution risk.</a:t>
            </a:r>
            <a:endParaRPr lang="en-US" sz="850" dirty="0"/>
          </a:p>
        </p:txBody>
      </p:sp>
      <p:sp>
        <p:nvSpPr>
          <p:cNvPr id="12" name="Shape 10"/>
          <p:cNvSpPr/>
          <p:nvPr/>
        </p:nvSpPr>
        <p:spPr>
          <a:xfrm>
            <a:off x="4642842" y="1572071"/>
            <a:ext cx="1931640" cy="2029569"/>
          </a:xfrm>
          <a:prstGeom prst="roundRect">
            <a:avLst>
              <a:gd name="adj" fmla="val 4734"/>
            </a:avLst>
          </a:prstGeom>
          <a:solidFill>
            <a:srgbClr val="040C1A">
              <a:alpha val="95000"/>
            </a:srgbClr>
          </a:solidFill>
          <a:ln w="19050">
            <a:solidFill>
              <a:srgbClr val="8A9AA8"/>
            </a:solidFill>
            <a:prstDash val="solid"/>
          </a:ln>
        </p:spPr>
      </p:sp>
      <p:sp>
        <p:nvSpPr>
          <p:cNvPr id="13" name="Shape 11"/>
          <p:cNvSpPr/>
          <p:nvPr/>
        </p:nvSpPr>
        <p:spPr>
          <a:xfrm>
            <a:off x="4623792" y="1572071"/>
            <a:ext cx="76200" cy="2029569"/>
          </a:xfrm>
          <a:prstGeom prst="roundRect">
            <a:avLst>
              <a:gd name="adj" fmla="val 167442"/>
            </a:avLst>
          </a:prstGeom>
          <a:solidFill>
            <a:srgbClr val="8A9AA8"/>
          </a:solidFill>
          <a:ln/>
        </p:spPr>
      </p:sp>
      <p:sp>
        <p:nvSpPr>
          <p:cNvPr id="14" name="Text 12"/>
          <p:cNvSpPr/>
          <p:nvPr/>
        </p:nvSpPr>
        <p:spPr>
          <a:xfrm>
            <a:off x="4860801" y="1732880"/>
            <a:ext cx="1552873" cy="664369"/>
          </a:xfrm>
          <a:prstGeom prst="rect">
            <a:avLst/>
          </a:prstGeom>
          <a:noFill/>
          <a:ln/>
        </p:spPr>
        <p:txBody>
          <a:bodyPr wrap="square" lIns="0" tIns="0" rIns="0" bIns="0" rtlCol="0" anchor="t"/>
          <a:lstStyle/>
          <a:p>
            <a:pPr marL="0" indent="0" algn="l">
              <a:lnSpc>
                <a:spcPts val="1700"/>
              </a:lnSpc>
              <a:buNone/>
            </a:pPr>
            <a:r>
              <a:rPr lang="en-US" sz="1350" dirty="0">
                <a:solidFill>
                  <a:srgbClr val="000000"/>
                </a:solidFill>
                <a:latin typeface="Geist Medium" pitchFamily="34" charset="0"/>
                <a:ea typeface="Geist Medium" pitchFamily="34" charset="-122"/>
                <a:cs typeface="Geist Medium" pitchFamily="34" charset="-120"/>
              </a:rPr>
              <a:t>🌡️</a:t>
            </a:r>
            <a:r>
              <a:rPr lang="en-US" sz="1350" dirty="0">
                <a:solidFill>
                  <a:srgbClr val="C6D1D6"/>
                </a:solidFill>
                <a:latin typeface="Geist Medium" pitchFamily="34" charset="0"/>
                <a:ea typeface="Geist Medium" pitchFamily="34" charset="-122"/>
                <a:cs typeface="Geist Medium" pitchFamily="34" charset="-120"/>
              </a:rPr>
              <a:t> Temperature Card — 31°C, Lahore</a:t>
            </a:r>
            <a:endParaRPr lang="en-US" sz="1350" dirty="0"/>
          </a:p>
        </p:txBody>
      </p:sp>
      <p:sp>
        <p:nvSpPr>
          <p:cNvPr id="15" name="Text 13"/>
          <p:cNvSpPr/>
          <p:nvPr/>
        </p:nvSpPr>
        <p:spPr>
          <a:xfrm>
            <a:off x="4860801" y="2482304"/>
            <a:ext cx="1552873" cy="589657"/>
          </a:xfrm>
          <a:prstGeom prst="rect">
            <a:avLst/>
          </a:prstGeom>
          <a:noFill/>
          <a:ln/>
        </p:spPr>
        <p:txBody>
          <a:bodyPr wrap="square" lIns="0" tIns="0" rIns="0" bIns="0" rtlCol="0" anchor="t"/>
          <a:lstStyle/>
          <a:p>
            <a:pPr marL="0" indent="0" algn="l">
              <a:lnSpc>
                <a:spcPts val="1150"/>
              </a:lnSpc>
              <a:buNone/>
            </a:pPr>
            <a:r>
              <a:rPr lang="en-US" sz="850" dirty="0">
                <a:solidFill>
                  <a:srgbClr val="C6D1D6"/>
                </a:solidFill>
                <a:latin typeface="Geist" pitchFamily="34" charset="0"/>
                <a:ea typeface="Geist" pitchFamily="34" charset="-122"/>
                <a:cs typeface="Geist" pitchFamily="34" charset="-120"/>
              </a:rPr>
              <a:t>Shows city temperature. Environmental factors like heat affect how pollution spreads across the region.</a:t>
            </a:r>
            <a:endParaRPr lang="en-US" sz="850" dirty="0"/>
          </a:p>
        </p:txBody>
      </p:sp>
      <p:sp>
        <p:nvSpPr>
          <p:cNvPr id="16" name="Shape 14"/>
          <p:cNvSpPr/>
          <p:nvPr/>
        </p:nvSpPr>
        <p:spPr>
          <a:xfrm>
            <a:off x="6716241" y="1572071"/>
            <a:ext cx="1931640" cy="2029569"/>
          </a:xfrm>
          <a:prstGeom prst="roundRect">
            <a:avLst>
              <a:gd name="adj" fmla="val 4734"/>
            </a:avLst>
          </a:prstGeom>
          <a:solidFill>
            <a:srgbClr val="040C1A">
              <a:alpha val="95000"/>
            </a:srgbClr>
          </a:solidFill>
          <a:ln w="19050">
            <a:solidFill>
              <a:srgbClr val="C6D1D6"/>
            </a:solidFill>
            <a:prstDash val="solid"/>
          </a:ln>
        </p:spPr>
      </p:sp>
      <p:sp>
        <p:nvSpPr>
          <p:cNvPr id="17" name="Shape 15"/>
          <p:cNvSpPr/>
          <p:nvPr/>
        </p:nvSpPr>
        <p:spPr>
          <a:xfrm>
            <a:off x="6697191" y="1572071"/>
            <a:ext cx="76200" cy="2029569"/>
          </a:xfrm>
          <a:prstGeom prst="roundRect">
            <a:avLst>
              <a:gd name="adj" fmla="val 167442"/>
            </a:avLst>
          </a:prstGeom>
          <a:solidFill>
            <a:srgbClr val="C6D1D6"/>
          </a:solidFill>
          <a:ln/>
        </p:spPr>
      </p:sp>
      <p:sp>
        <p:nvSpPr>
          <p:cNvPr id="18" name="Text 16"/>
          <p:cNvSpPr/>
          <p:nvPr/>
        </p:nvSpPr>
        <p:spPr>
          <a:xfrm>
            <a:off x="6934200" y="1732880"/>
            <a:ext cx="1552873" cy="885825"/>
          </a:xfrm>
          <a:prstGeom prst="rect">
            <a:avLst/>
          </a:prstGeom>
          <a:noFill/>
          <a:ln/>
        </p:spPr>
        <p:txBody>
          <a:bodyPr wrap="square" lIns="0" tIns="0" rIns="0" bIns="0" rtlCol="0" anchor="t"/>
          <a:lstStyle/>
          <a:p>
            <a:pPr marL="0" indent="0" algn="l">
              <a:lnSpc>
                <a:spcPts val="1700"/>
              </a:lnSpc>
              <a:buNone/>
            </a:pPr>
            <a:r>
              <a:rPr lang="en-US" sz="1350" dirty="0">
                <a:solidFill>
                  <a:srgbClr val="000000"/>
                </a:solidFill>
                <a:latin typeface="Geist Medium" pitchFamily="34" charset="0"/>
                <a:ea typeface="Geist Medium" pitchFamily="34" charset="-122"/>
                <a:cs typeface="Geist Medium" pitchFamily="34" charset="-120"/>
              </a:rPr>
              <a:t>⚠️</a:t>
            </a:r>
            <a:r>
              <a:rPr lang="en-US" sz="1350" dirty="0">
                <a:solidFill>
                  <a:srgbClr val="C6D1D6"/>
                </a:solidFill>
                <a:latin typeface="Geist Medium" pitchFamily="34" charset="0"/>
                <a:ea typeface="Geist Medium" pitchFamily="34" charset="-122"/>
                <a:cs typeface="Geist Medium" pitchFamily="34" charset="-120"/>
              </a:rPr>
              <a:t> Health Risk Card — Very High (AI Prediction)</a:t>
            </a:r>
            <a:endParaRPr lang="en-US" sz="1350" dirty="0"/>
          </a:p>
        </p:txBody>
      </p:sp>
      <p:sp>
        <p:nvSpPr>
          <p:cNvPr id="19" name="Text 17"/>
          <p:cNvSpPr/>
          <p:nvPr/>
        </p:nvSpPr>
        <p:spPr>
          <a:xfrm>
            <a:off x="6934200" y="2703761"/>
            <a:ext cx="1552873" cy="737071"/>
          </a:xfrm>
          <a:prstGeom prst="rect">
            <a:avLst/>
          </a:prstGeom>
          <a:noFill/>
          <a:ln/>
        </p:spPr>
        <p:txBody>
          <a:bodyPr wrap="square" lIns="0" tIns="0" rIns="0" bIns="0" rtlCol="0" anchor="t"/>
          <a:lstStyle/>
          <a:p>
            <a:pPr marL="0" indent="0" algn="l">
              <a:lnSpc>
                <a:spcPts val="1150"/>
              </a:lnSpc>
              <a:buNone/>
            </a:pPr>
            <a:r>
              <a:rPr lang="en-US" sz="850" dirty="0">
                <a:solidFill>
                  <a:srgbClr val="C6D1D6"/>
                </a:solidFill>
                <a:latin typeface="Geist" pitchFamily="34" charset="0"/>
                <a:ea typeface="Geist" pitchFamily="34" charset="-122"/>
                <a:cs typeface="Geist" pitchFamily="34" charset="-120"/>
              </a:rPr>
              <a:t>ML model predicts overall health danger. People with asthma, COPD, or heart disease are at serious risk at this level.</a:t>
            </a:r>
            <a:endParaRPr lang="en-US" sz="850" dirty="0"/>
          </a:p>
        </p:txBody>
      </p:sp>
      <p:sp>
        <p:nvSpPr>
          <p:cNvPr id="20" name="Shape 18"/>
          <p:cNvSpPr/>
          <p:nvPr/>
        </p:nvSpPr>
        <p:spPr>
          <a:xfrm>
            <a:off x="496119" y="3761110"/>
            <a:ext cx="8151763" cy="744066"/>
          </a:xfrm>
          <a:prstGeom prst="roundRect">
            <a:avLst>
              <a:gd name="adj" fmla="val 17148"/>
            </a:avLst>
          </a:prstGeom>
          <a:solidFill>
            <a:srgbClr val="4B3F02"/>
          </a:solidFill>
          <a:ln/>
        </p:spPr>
      </p:sp>
      <p:pic>
        <p:nvPicPr>
          <p:cNvPr id="21" name="Image 0" descr="preencoded.png"/>
          <p:cNvPicPr>
            <a:picLocks noChangeAspect="1"/>
          </p:cNvPicPr>
          <p:nvPr/>
        </p:nvPicPr>
        <p:blipFill>
          <a:blip r:embed="rId3"/>
          <a:stretch>
            <a:fillRect/>
          </a:stretch>
        </p:blipFill>
        <p:spPr>
          <a:xfrm>
            <a:off x="637877" y="3952354"/>
            <a:ext cx="177180" cy="141759"/>
          </a:xfrm>
          <a:prstGeom prst="rect">
            <a:avLst/>
          </a:prstGeom>
        </p:spPr>
      </p:pic>
      <p:sp>
        <p:nvSpPr>
          <p:cNvPr id="22" name="Text 19"/>
          <p:cNvSpPr/>
          <p:nvPr/>
        </p:nvSpPr>
        <p:spPr>
          <a:xfrm>
            <a:off x="956816" y="3938290"/>
            <a:ext cx="7549307" cy="368498"/>
          </a:xfrm>
          <a:prstGeom prst="rect">
            <a:avLst/>
          </a:prstGeom>
          <a:noFill/>
          <a:ln/>
        </p:spPr>
        <p:txBody>
          <a:bodyPr wrap="square" lIns="0" tIns="0" rIns="0" bIns="0" rtlCol="0" anchor="t"/>
          <a:lstStyle/>
          <a:p>
            <a:pPr marL="0" indent="0" algn="l">
              <a:lnSpc>
                <a:spcPts val="1450"/>
              </a:lnSpc>
              <a:buNone/>
            </a:pPr>
            <a:r>
              <a:rPr lang="en-US" sz="1100" dirty="0">
                <a:solidFill>
                  <a:srgbClr val="000000"/>
                </a:solidFill>
                <a:latin typeface="Geist" pitchFamily="34" charset="0"/>
                <a:ea typeface="Geist" pitchFamily="34" charset="-122"/>
                <a:cs typeface="Geist" pitchFamily="34" charset="-120"/>
              </a:rPr>
              <a:t>🚨</a:t>
            </a:r>
            <a:r>
              <a:rPr lang="en-US" sz="1100" dirty="0">
                <a:solidFill>
                  <a:srgbClr val="FFFFFF"/>
                </a:solidFill>
                <a:latin typeface="Geist" pitchFamily="34" charset="0"/>
                <a:ea typeface="Geist" pitchFamily="34" charset="-122"/>
                <a:cs typeface="Geist" pitchFamily="34" charset="-120"/>
              </a:rPr>
              <a:t> Pollution Alert Banner: </a:t>
            </a:r>
            <a:r>
              <a:rPr lang="en-US" sz="1100" b="1" dirty="0">
                <a:solidFill>
                  <a:srgbClr val="FFFFFF"/>
                </a:solidFill>
                <a:latin typeface="Geist" pitchFamily="34" charset="0"/>
                <a:ea typeface="Geist" pitchFamily="34" charset="-122"/>
                <a:cs typeface="Geist" pitchFamily="34" charset="-120"/>
              </a:rPr>
              <a:t>"High pollution alert detected today in Lahore"</a:t>
            </a:r>
            <a:r>
              <a:rPr lang="en-US" sz="1100" dirty="0">
                <a:solidFill>
                  <a:srgbClr val="FFFFFF"/>
                </a:solidFill>
                <a:latin typeface="Geist" pitchFamily="34" charset="0"/>
                <a:ea typeface="Geist" pitchFamily="34" charset="-122"/>
                <a:cs typeface="Geist" pitchFamily="34" charset="-120"/>
              </a:rPr>
              <a:t> — acts as an early warning system for dangerous air quality days.</a:t>
            </a:r>
            <a:endParaRPr lang="en-US" sz="1100" dirty="0"/>
          </a:p>
        </p:txBody>
      </p:sp>
      <p:sp>
        <p:nvSpPr>
          <p:cNvPr id="23" name="Rectangle 22"/>
          <p:cNvSpPr/>
          <p:nvPr/>
        </p:nvSpPr>
        <p:spPr>
          <a:xfrm>
            <a:off x="8050696" y="4890052"/>
            <a:ext cx="1023730" cy="1789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712217"/>
            <a:ext cx="8065591" cy="442987"/>
          </a:xfrm>
          <a:prstGeom prst="rect">
            <a:avLst/>
          </a:prstGeom>
          <a:noFill/>
          <a:ln/>
        </p:spPr>
        <p:txBody>
          <a:bodyPr wrap="none" lIns="0" tIns="0" rIns="0" bIns="0" rtlCol="0" anchor="t"/>
          <a:lstStyle/>
          <a:p>
            <a:pPr marL="0" indent="0" algn="l">
              <a:lnSpc>
                <a:spcPts val="3450"/>
              </a:lnSpc>
              <a:buNone/>
            </a:pPr>
            <a:r>
              <a:rPr lang="en-US" sz="2750" dirty="0">
                <a:solidFill>
                  <a:srgbClr val="C6D1D6"/>
                </a:solidFill>
                <a:latin typeface="Geist Medium" pitchFamily="34" charset="0"/>
                <a:ea typeface="Geist Medium" pitchFamily="34" charset="-122"/>
                <a:cs typeface="Geist Medium" pitchFamily="34" charset="-120"/>
              </a:rPr>
              <a:t>PAKISTAN POLLUTION MAP &amp; AQI TREND GRAPH</a:t>
            </a:r>
            <a:endParaRPr lang="en-US" sz="2750" dirty="0"/>
          </a:p>
        </p:txBody>
      </p:sp>
      <p:sp>
        <p:nvSpPr>
          <p:cNvPr id="3" name="Shape 1"/>
          <p:cNvSpPr/>
          <p:nvPr/>
        </p:nvSpPr>
        <p:spPr>
          <a:xfrm>
            <a:off x="394022" y="1367805"/>
            <a:ext cx="4107135" cy="3063478"/>
          </a:xfrm>
          <a:prstGeom prst="roundRect">
            <a:avLst>
              <a:gd name="adj" fmla="val 6664"/>
            </a:avLst>
          </a:prstGeom>
          <a:solidFill>
            <a:srgbClr val="2C3A4C">
              <a:alpha val="95000"/>
            </a:srgbClr>
          </a:solidFill>
          <a:ln/>
        </p:spPr>
      </p:sp>
      <p:sp>
        <p:nvSpPr>
          <p:cNvPr id="4" name="Text 2"/>
          <p:cNvSpPr/>
          <p:nvPr/>
        </p:nvSpPr>
        <p:spPr>
          <a:xfrm>
            <a:off x="535781" y="1509564"/>
            <a:ext cx="2806675" cy="221456"/>
          </a:xfrm>
          <a:prstGeom prst="rect">
            <a:avLst/>
          </a:prstGeom>
          <a:noFill/>
          <a:ln/>
        </p:spPr>
        <p:txBody>
          <a:bodyPr wrap="none" lIns="0" tIns="0" rIns="0" bIns="0" rtlCol="0" anchor="t"/>
          <a:lstStyle/>
          <a:p>
            <a:pPr marL="0" indent="0" algn="l">
              <a:lnSpc>
                <a:spcPts val="1700"/>
              </a:lnSpc>
              <a:buNone/>
            </a:pPr>
            <a:r>
              <a:rPr lang="en-US" sz="1350" dirty="0">
                <a:solidFill>
                  <a:srgbClr val="000000"/>
                </a:solidFill>
                <a:latin typeface="Geist Medium" pitchFamily="34" charset="0"/>
                <a:ea typeface="Geist Medium" pitchFamily="34" charset="-122"/>
                <a:cs typeface="Geist Medium" pitchFamily="34" charset="-120"/>
              </a:rPr>
              <a:t>🗺️</a:t>
            </a:r>
            <a:r>
              <a:rPr lang="en-US" sz="1350" dirty="0">
                <a:solidFill>
                  <a:srgbClr val="C6D1D6"/>
                </a:solidFill>
                <a:latin typeface="Geist Medium" pitchFamily="34" charset="0"/>
                <a:ea typeface="Geist Medium" pitchFamily="34" charset="-122"/>
                <a:cs typeface="Geist Medium" pitchFamily="34" charset="-120"/>
              </a:rPr>
              <a:t> INTERACTIVE POLLUTION MAP</a:t>
            </a:r>
            <a:endParaRPr lang="en-US" sz="1350" dirty="0"/>
          </a:p>
        </p:txBody>
      </p:sp>
      <p:sp>
        <p:nvSpPr>
          <p:cNvPr id="5" name="Text 3"/>
          <p:cNvSpPr/>
          <p:nvPr/>
        </p:nvSpPr>
        <p:spPr>
          <a:xfrm>
            <a:off x="535781" y="1872779"/>
            <a:ext cx="3823618" cy="368498"/>
          </a:xfrm>
          <a:prstGeom prst="rect">
            <a:avLst/>
          </a:prstGeom>
          <a:noFill/>
          <a:ln/>
        </p:spPr>
        <p:txBody>
          <a:bodyPr wrap="squar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Visualizes AQI conditions across Pakistan cities using color-coded geospatial markers built with </a:t>
            </a:r>
            <a:r>
              <a:rPr lang="en-US" sz="1100" b="1" dirty="0">
                <a:solidFill>
                  <a:srgbClr val="C6D1D6"/>
                </a:solidFill>
                <a:latin typeface="Geist" pitchFamily="34" charset="0"/>
                <a:ea typeface="Geist" pitchFamily="34" charset="-122"/>
                <a:cs typeface="Geist" pitchFamily="34" charset="-120"/>
              </a:rPr>
              <a:t>React Leaflet</a:t>
            </a:r>
            <a:r>
              <a:rPr lang="en-US" sz="1100" dirty="0">
                <a:solidFill>
                  <a:srgbClr val="C6D1D6"/>
                </a:solidFill>
                <a:latin typeface="Geist" pitchFamily="34" charset="0"/>
                <a:ea typeface="Geist" pitchFamily="34" charset="-122"/>
                <a:cs typeface="Geist" pitchFamily="34" charset="-120"/>
              </a:rPr>
              <a:t>.</a:t>
            </a:r>
            <a:endParaRPr lang="en-US" sz="1100" dirty="0"/>
          </a:p>
        </p:txBody>
      </p:sp>
      <p:sp>
        <p:nvSpPr>
          <p:cNvPr id="6" name="Shape 4"/>
          <p:cNvSpPr/>
          <p:nvPr/>
        </p:nvSpPr>
        <p:spPr>
          <a:xfrm>
            <a:off x="535781" y="2400746"/>
            <a:ext cx="3823618" cy="467767"/>
          </a:xfrm>
          <a:prstGeom prst="roundRect">
            <a:avLst>
              <a:gd name="adj" fmla="val 27277"/>
            </a:avLst>
          </a:prstGeom>
          <a:solidFill>
            <a:srgbClr val="4B5F76">
              <a:alpha val="50000"/>
            </a:srgbClr>
          </a:solidFill>
          <a:ln/>
        </p:spPr>
      </p:sp>
      <p:sp>
        <p:nvSpPr>
          <p:cNvPr id="7" name="Text 5"/>
          <p:cNvSpPr/>
          <p:nvPr/>
        </p:nvSpPr>
        <p:spPr>
          <a:xfrm>
            <a:off x="677540" y="2542505"/>
            <a:ext cx="3540100" cy="184249"/>
          </a:xfrm>
          <a:prstGeom prst="rect">
            <a:avLst/>
          </a:prstGeom>
          <a:noFill/>
          <a:ln/>
        </p:spPr>
        <p:txBody>
          <a:bodyPr wrap="none" lIns="0" tIns="0" rIns="0" bIns="0" rtlCol="0" anchor="t"/>
          <a:lstStyle/>
          <a:p>
            <a:pPr marL="0" indent="0" algn="l">
              <a:lnSpc>
                <a:spcPts val="1450"/>
              </a:lnSpc>
              <a:buNone/>
            </a:pPr>
            <a:r>
              <a:rPr lang="en-US" sz="1100" dirty="0">
                <a:solidFill>
                  <a:srgbClr val="000000"/>
                </a:solidFill>
                <a:latin typeface="Geist" pitchFamily="34" charset="0"/>
                <a:ea typeface="Geist" pitchFamily="34" charset="-122"/>
                <a:cs typeface="Geist" pitchFamily="34" charset="-120"/>
              </a:rPr>
              <a:t>🟢</a:t>
            </a:r>
            <a:r>
              <a:rPr lang="en-US" sz="1100" dirty="0">
                <a:solidFill>
                  <a:srgbClr val="FFFFFF"/>
                </a:solidFill>
                <a:latin typeface="Geist" pitchFamily="34" charset="0"/>
                <a:ea typeface="Geist" pitchFamily="34" charset="-122"/>
                <a:cs typeface="Geist" pitchFamily="34" charset="-120"/>
              </a:rPr>
              <a:t> Green — Good AQI</a:t>
            </a:r>
            <a:endParaRPr lang="en-US" sz="1100" dirty="0"/>
          </a:p>
        </p:txBody>
      </p:sp>
      <p:sp>
        <p:nvSpPr>
          <p:cNvPr id="8" name="Shape 6"/>
          <p:cNvSpPr/>
          <p:nvPr/>
        </p:nvSpPr>
        <p:spPr>
          <a:xfrm>
            <a:off x="535781" y="3010272"/>
            <a:ext cx="3823618" cy="467767"/>
          </a:xfrm>
          <a:prstGeom prst="roundRect">
            <a:avLst>
              <a:gd name="adj" fmla="val 27277"/>
            </a:avLst>
          </a:prstGeom>
          <a:solidFill>
            <a:srgbClr val="4B5F76">
              <a:alpha val="50000"/>
            </a:srgbClr>
          </a:solidFill>
          <a:ln/>
        </p:spPr>
      </p:sp>
      <p:sp>
        <p:nvSpPr>
          <p:cNvPr id="9" name="Text 7"/>
          <p:cNvSpPr/>
          <p:nvPr/>
        </p:nvSpPr>
        <p:spPr>
          <a:xfrm>
            <a:off x="677540" y="3152031"/>
            <a:ext cx="3540100" cy="184249"/>
          </a:xfrm>
          <a:prstGeom prst="rect">
            <a:avLst/>
          </a:prstGeom>
          <a:noFill/>
          <a:ln/>
        </p:spPr>
        <p:txBody>
          <a:bodyPr wrap="none" lIns="0" tIns="0" rIns="0" bIns="0" rtlCol="0" anchor="t"/>
          <a:lstStyle/>
          <a:p>
            <a:pPr marL="0" indent="0" algn="l">
              <a:lnSpc>
                <a:spcPts val="1450"/>
              </a:lnSpc>
              <a:buNone/>
            </a:pPr>
            <a:r>
              <a:rPr lang="en-US" sz="1100" dirty="0">
                <a:solidFill>
                  <a:srgbClr val="000000"/>
                </a:solidFill>
                <a:latin typeface="Geist" pitchFamily="34" charset="0"/>
                <a:ea typeface="Geist" pitchFamily="34" charset="-122"/>
                <a:cs typeface="Geist" pitchFamily="34" charset="-120"/>
              </a:rPr>
              <a:t>🟡</a:t>
            </a:r>
            <a:r>
              <a:rPr lang="en-US" sz="1100" dirty="0">
                <a:solidFill>
                  <a:srgbClr val="FFFFFF"/>
                </a:solidFill>
                <a:latin typeface="Geist" pitchFamily="34" charset="0"/>
                <a:ea typeface="Geist" pitchFamily="34" charset="-122"/>
                <a:cs typeface="Geist" pitchFamily="34" charset="-120"/>
              </a:rPr>
              <a:t> Yellow — Moderate AQI</a:t>
            </a:r>
            <a:endParaRPr lang="en-US" sz="1100" dirty="0"/>
          </a:p>
        </p:txBody>
      </p:sp>
      <p:sp>
        <p:nvSpPr>
          <p:cNvPr id="10" name="Shape 8"/>
          <p:cNvSpPr/>
          <p:nvPr/>
        </p:nvSpPr>
        <p:spPr>
          <a:xfrm>
            <a:off x="535781" y="3619798"/>
            <a:ext cx="3823618" cy="467767"/>
          </a:xfrm>
          <a:prstGeom prst="roundRect">
            <a:avLst>
              <a:gd name="adj" fmla="val 27277"/>
            </a:avLst>
          </a:prstGeom>
          <a:solidFill>
            <a:srgbClr val="4B5F76">
              <a:alpha val="50000"/>
            </a:srgbClr>
          </a:solidFill>
          <a:ln/>
        </p:spPr>
      </p:sp>
      <p:sp>
        <p:nvSpPr>
          <p:cNvPr id="11" name="Text 9"/>
          <p:cNvSpPr/>
          <p:nvPr/>
        </p:nvSpPr>
        <p:spPr>
          <a:xfrm>
            <a:off x="677540" y="3761556"/>
            <a:ext cx="3540100" cy="184249"/>
          </a:xfrm>
          <a:prstGeom prst="rect">
            <a:avLst/>
          </a:prstGeom>
          <a:noFill/>
          <a:ln/>
        </p:spPr>
        <p:txBody>
          <a:bodyPr wrap="none" lIns="0" tIns="0" rIns="0" bIns="0" rtlCol="0" anchor="t"/>
          <a:lstStyle/>
          <a:p>
            <a:pPr marL="0" indent="0" algn="l">
              <a:lnSpc>
                <a:spcPts val="1450"/>
              </a:lnSpc>
              <a:buNone/>
            </a:pPr>
            <a:r>
              <a:rPr lang="en-US" sz="1100" dirty="0">
                <a:solidFill>
                  <a:srgbClr val="000000"/>
                </a:solidFill>
                <a:latin typeface="Geist" pitchFamily="34" charset="0"/>
                <a:ea typeface="Geist" pitchFamily="34" charset="-122"/>
                <a:cs typeface="Geist" pitchFamily="34" charset="-120"/>
              </a:rPr>
              <a:t>🔴</a:t>
            </a:r>
            <a:r>
              <a:rPr lang="en-US" sz="1100" dirty="0">
                <a:solidFill>
                  <a:srgbClr val="FFFFFF"/>
                </a:solidFill>
                <a:latin typeface="Geist" pitchFamily="34" charset="0"/>
                <a:ea typeface="Geist" pitchFamily="34" charset="-122"/>
                <a:cs typeface="Geist" pitchFamily="34" charset="-120"/>
              </a:rPr>
              <a:t> Red — Unhealthy (Lahore)</a:t>
            </a:r>
            <a:endParaRPr lang="en-US" sz="1100" dirty="0"/>
          </a:p>
        </p:txBody>
      </p:sp>
      <p:sp>
        <p:nvSpPr>
          <p:cNvPr id="12" name="Text 10"/>
          <p:cNvSpPr/>
          <p:nvPr/>
        </p:nvSpPr>
        <p:spPr>
          <a:xfrm>
            <a:off x="4749701" y="1509564"/>
            <a:ext cx="2904232" cy="221456"/>
          </a:xfrm>
          <a:prstGeom prst="rect">
            <a:avLst/>
          </a:prstGeom>
          <a:noFill/>
          <a:ln/>
        </p:spPr>
        <p:txBody>
          <a:bodyPr wrap="none" lIns="0" tIns="0" rIns="0" bIns="0" rtlCol="0" anchor="t"/>
          <a:lstStyle/>
          <a:p>
            <a:pPr marL="0" indent="0" algn="l">
              <a:lnSpc>
                <a:spcPts val="1700"/>
              </a:lnSpc>
              <a:buNone/>
            </a:pPr>
            <a:r>
              <a:rPr lang="en-US" sz="1350" dirty="0">
                <a:solidFill>
                  <a:srgbClr val="000000"/>
                </a:solidFill>
                <a:latin typeface="Geist Medium" pitchFamily="34" charset="0"/>
                <a:ea typeface="Geist Medium" pitchFamily="34" charset="-122"/>
                <a:cs typeface="Geist Medium" pitchFamily="34" charset="-120"/>
              </a:rPr>
              <a:t>📈</a:t>
            </a:r>
            <a:r>
              <a:rPr lang="en-US" sz="1350" dirty="0">
                <a:solidFill>
                  <a:srgbClr val="C6D1D6"/>
                </a:solidFill>
                <a:latin typeface="Geist Medium" pitchFamily="34" charset="0"/>
                <a:ea typeface="Geist Medium" pitchFamily="34" charset="-122"/>
                <a:cs typeface="Geist Medium" pitchFamily="34" charset="-120"/>
              </a:rPr>
              <a:t> AQI TREND PREDICTION GRAPH</a:t>
            </a:r>
            <a:endParaRPr lang="en-US" sz="1350" dirty="0"/>
          </a:p>
        </p:txBody>
      </p:sp>
      <p:sp>
        <p:nvSpPr>
          <p:cNvPr id="13" name="Text 11"/>
          <p:cNvSpPr/>
          <p:nvPr/>
        </p:nvSpPr>
        <p:spPr>
          <a:xfrm>
            <a:off x="4749701" y="1872779"/>
            <a:ext cx="3902943" cy="552748"/>
          </a:xfrm>
          <a:prstGeom prst="rect">
            <a:avLst/>
          </a:prstGeom>
          <a:noFill/>
          <a:ln/>
        </p:spPr>
        <p:txBody>
          <a:bodyPr wrap="squar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A line chart built with </a:t>
            </a:r>
            <a:r>
              <a:rPr lang="en-US" sz="1100" b="1" dirty="0">
                <a:solidFill>
                  <a:srgbClr val="C6D1D6"/>
                </a:solidFill>
                <a:latin typeface="Geist" pitchFamily="34" charset="0"/>
                <a:ea typeface="Geist" pitchFamily="34" charset="-122"/>
                <a:cs typeface="Geist" pitchFamily="34" charset="-120"/>
              </a:rPr>
              <a:t>Recharts</a:t>
            </a:r>
            <a:r>
              <a:rPr lang="en-US" sz="1100" dirty="0">
                <a:solidFill>
                  <a:srgbClr val="C6D1D6"/>
                </a:solidFill>
                <a:latin typeface="Geist" pitchFamily="34" charset="0"/>
                <a:ea typeface="Geist" pitchFamily="34" charset="-122"/>
                <a:cs typeface="Geist" pitchFamily="34" charset="-120"/>
              </a:rPr>
              <a:t> predicts AQI changes throughout the day, helping users plan outdoor activities safely.</a:t>
            </a:r>
            <a:endParaRPr lang="en-US" sz="1100" dirty="0"/>
          </a:p>
        </p:txBody>
      </p:sp>
      <p:sp>
        <p:nvSpPr>
          <p:cNvPr id="14" name="Shape 12"/>
          <p:cNvSpPr/>
          <p:nvPr/>
        </p:nvSpPr>
        <p:spPr>
          <a:xfrm>
            <a:off x="4749701" y="2584996"/>
            <a:ext cx="3902943" cy="467767"/>
          </a:xfrm>
          <a:prstGeom prst="roundRect">
            <a:avLst>
              <a:gd name="adj" fmla="val 27277"/>
            </a:avLst>
          </a:prstGeom>
          <a:solidFill>
            <a:srgbClr val="2C3A4C">
              <a:alpha val="50000"/>
            </a:srgbClr>
          </a:solidFill>
          <a:ln/>
        </p:spPr>
      </p:sp>
      <p:sp>
        <p:nvSpPr>
          <p:cNvPr id="15" name="Text 13"/>
          <p:cNvSpPr/>
          <p:nvPr/>
        </p:nvSpPr>
        <p:spPr>
          <a:xfrm>
            <a:off x="4891460" y="2726754"/>
            <a:ext cx="3619426" cy="184249"/>
          </a:xfrm>
          <a:prstGeom prst="rect">
            <a:avLst/>
          </a:prstGeom>
          <a:noFill/>
          <a:ln/>
        </p:spPr>
        <p:txBody>
          <a:bodyPr wrap="none" lIns="0" tIns="0" rIns="0" bIns="0" rtlCol="0" anchor="t"/>
          <a:lstStyle/>
          <a:p>
            <a:pPr marL="0" indent="0" algn="l">
              <a:lnSpc>
                <a:spcPts val="1450"/>
              </a:lnSpc>
              <a:buNone/>
            </a:pPr>
            <a:r>
              <a:rPr lang="en-US" sz="1100" dirty="0">
                <a:solidFill>
                  <a:srgbClr val="FFFFFF"/>
                </a:solidFill>
                <a:latin typeface="Geist" pitchFamily="34" charset="0"/>
                <a:ea typeface="Geist" pitchFamily="34" charset="-122"/>
                <a:cs typeface="Geist" pitchFamily="34" charset="-120"/>
              </a:rPr>
              <a:t>AQI increases during the day</a:t>
            </a:r>
            <a:endParaRPr lang="en-US" sz="1100" dirty="0"/>
          </a:p>
        </p:txBody>
      </p:sp>
      <p:sp>
        <p:nvSpPr>
          <p:cNvPr id="16" name="Shape 14"/>
          <p:cNvSpPr/>
          <p:nvPr/>
        </p:nvSpPr>
        <p:spPr>
          <a:xfrm>
            <a:off x="4749701" y="3194521"/>
            <a:ext cx="3902943" cy="467767"/>
          </a:xfrm>
          <a:prstGeom prst="roundRect">
            <a:avLst>
              <a:gd name="adj" fmla="val 27277"/>
            </a:avLst>
          </a:prstGeom>
          <a:solidFill>
            <a:srgbClr val="2C3A4C">
              <a:alpha val="50000"/>
            </a:srgbClr>
          </a:solidFill>
          <a:ln/>
        </p:spPr>
      </p:sp>
      <p:sp>
        <p:nvSpPr>
          <p:cNvPr id="17" name="Text 15"/>
          <p:cNvSpPr/>
          <p:nvPr/>
        </p:nvSpPr>
        <p:spPr>
          <a:xfrm>
            <a:off x="4891460" y="3336280"/>
            <a:ext cx="3619426" cy="184249"/>
          </a:xfrm>
          <a:prstGeom prst="rect">
            <a:avLst/>
          </a:prstGeom>
          <a:noFill/>
          <a:ln/>
        </p:spPr>
        <p:txBody>
          <a:bodyPr wrap="none" lIns="0" tIns="0" rIns="0" bIns="0" rtlCol="0" anchor="t"/>
          <a:lstStyle/>
          <a:p>
            <a:pPr marL="0" indent="0" algn="l">
              <a:lnSpc>
                <a:spcPts val="1450"/>
              </a:lnSpc>
              <a:buNone/>
            </a:pPr>
            <a:r>
              <a:rPr lang="en-US" sz="1100" dirty="0">
                <a:solidFill>
                  <a:srgbClr val="FFFFFF"/>
                </a:solidFill>
                <a:latin typeface="Geist" pitchFamily="34" charset="0"/>
                <a:ea typeface="Geist" pitchFamily="34" charset="-122"/>
                <a:cs typeface="Geist" pitchFamily="34" charset="-120"/>
              </a:rPr>
              <a:t>Pollution worsens later in the day</a:t>
            </a:r>
            <a:endParaRPr lang="en-US" sz="1100" dirty="0"/>
          </a:p>
        </p:txBody>
      </p:sp>
      <p:sp>
        <p:nvSpPr>
          <p:cNvPr id="18" name="Shape 16"/>
          <p:cNvSpPr/>
          <p:nvPr/>
        </p:nvSpPr>
        <p:spPr>
          <a:xfrm>
            <a:off x="4749701" y="3804047"/>
            <a:ext cx="3902943" cy="467767"/>
          </a:xfrm>
          <a:prstGeom prst="roundRect">
            <a:avLst>
              <a:gd name="adj" fmla="val 27277"/>
            </a:avLst>
          </a:prstGeom>
          <a:solidFill>
            <a:srgbClr val="2C3A4C">
              <a:alpha val="50000"/>
            </a:srgbClr>
          </a:solidFill>
          <a:ln/>
        </p:spPr>
      </p:sp>
      <p:sp>
        <p:nvSpPr>
          <p:cNvPr id="19" name="Text 17"/>
          <p:cNvSpPr/>
          <p:nvPr/>
        </p:nvSpPr>
        <p:spPr>
          <a:xfrm>
            <a:off x="4891460" y="3945806"/>
            <a:ext cx="3619426" cy="184249"/>
          </a:xfrm>
          <a:prstGeom prst="rect">
            <a:avLst/>
          </a:prstGeom>
          <a:noFill/>
          <a:ln/>
        </p:spPr>
        <p:txBody>
          <a:bodyPr wrap="none" lIns="0" tIns="0" rIns="0" bIns="0" rtlCol="0" anchor="t"/>
          <a:lstStyle/>
          <a:p>
            <a:pPr marL="0" indent="0" algn="l">
              <a:lnSpc>
                <a:spcPts val="1450"/>
              </a:lnSpc>
              <a:buNone/>
            </a:pPr>
            <a:r>
              <a:rPr lang="en-US" sz="1100" dirty="0">
                <a:solidFill>
                  <a:srgbClr val="FFFFFF"/>
                </a:solidFill>
                <a:latin typeface="Geist" pitchFamily="34" charset="0"/>
                <a:ea typeface="Geist" pitchFamily="34" charset="-122"/>
                <a:cs typeface="Geist" pitchFamily="34" charset="-120"/>
              </a:rPr>
              <a:t>Supports safe outdoor planning</a:t>
            </a:r>
            <a:endParaRPr lang="en-US" sz="1100" dirty="0"/>
          </a:p>
        </p:txBody>
      </p:sp>
      <p:sp>
        <p:nvSpPr>
          <p:cNvPr id="20" name="Rectangle 19"/>
          <p:cNvSpPr/>
          <p:nvPr/>
        </p:nvSpPr>
        <p:spPr>
          <a:xfrm>
            <a:off x="8060635" y="4860235"/>
            <a:ext cx="1003852" cy="1987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502221"/>
            <a:ext cx="8151763" cy="885974"/>
          </a:xfrm>
          <a:prstGeom prst="rect">
            <a:avLst/>
          </a:prstGeom>
          <a:noFill/>
          <a:ln/>
        </p:spPr>
        <p:txBody>
          <a:bodyPr wrap="square" lIns="0" tIns="0" rIns="0" bIns="0" rtlCol="0" anchor="t"/>
          <a:lstStyle/>
          <a:p>
            <a:pPr marL="0" indent="0" algn="l">
              <a:lnSpc>
                <a:spcPts val="3450"/>
              </a:lnSpc>
              <a:buNone/>
            </a:pPr>
            <a:r>
              <a:rPr lang="en-US" sz="2750" dirty="0">
                <a:solidFill>
                  <a:srgbClr val="C6D1D6"/>
                </a:solidFill>
                <a:latin typeface="Geist Medium" pitchFamily="34" charset="0"/>
                <a:ea typeface="Geist Medium" pitchFamily="34" charset="-122"/>
                <a:cs typeface="Geist Medium" pitchFamily="34" charset="-120"/>
              </a:rPr>
              <a:t>MACHINE LEARNING MODEL — 99.24% ACCURACY</a:t>
            </a:r>
            <a:endParaRPr lang="en-US" sz="2750" dirty="0"/>
          </a:p>
        </p:txBody>
      </p:sp>
      <p:sp>
        <p:nvSpPr>
          <p:cNvPr id="3" name="Text 1"/>
          <p:cNvSpPr/>
          <p:nvPr/>
        </p:nvSpPr>
        <p:spPr>
          <a:xfrm>
            <a:off x="496119" y="1671712"/>
            <a:ext cx="8151763" cy="368498"/>
          </a:xfrm>
          <a:prstGeom prst="rect">
            <a:avLst/>
          </a:prstGeom>
          <a:noFill/>
          <a:ln/>
        </p:spPr>
        <p:txBody>
          <a:bodyPr wrap="squar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The core AI of AirSense Pakistan is a </a:t>
            </a:r>
            <a:r>
              <a:rPr lang="en-US" sz="1100" b="1" dirty="0">
                <a:solidFill>
                  <a:srgbClr val="C6D1D6"/>
                </a:solidFill>
                <a:latin typeface="Geist" pitchFamily="34" charset="0"/>
                <a:ea typeface="Geist" pitchFamily="34" charset="-122"/>
                <a:cs typeface="Geist" pitchFamily="34" charset="-120"/>
              </a:rPr>
              <a:t>Random Forest Classifier</a:t>
            </a:r>
            <a:r>
              <a:rPr lang="en-US" sz="1100" dirty="0">
                <a:solidFill>
                  <a:srgbClr val="C6D1D6"/>
                </a:solidFill>
                <a:latin typeface="Geist" pitchFamily="34" charset="0"/>
                <a:ea typeface="Geist" pitchFamily="34" charset="-122"/>
                <a:cs typeface="Geist" pitchFamily="34" charset="-120"/>
              </a:rPr>
              <a:t> trained on Pakistan AQI dataset to predict pollution health risk categories for users with asthma, COPD, and heart disease.</a:t>
            </a:r>
            <a:endParaRPr lang="en-US" sz="1100" dirty="0"/>
          </a:p>
        </p:txBody>
      </p:sp>
      <p:pic>
        <p:nvPicPr>
          <p:cNvPr id="4" name="Image 0" descr="preencoded.png"/>
          <p:cNvPicPr>
            <a:picLocks noChangeAspect="1"/>
          </p:cNvPicPr>
          <p:nvPr/>
        </p:nvPicPr>
        <p:blipFill>
          <a:blip r:embed="rId3"/>
          <a:stretch>
            <a:fillRect/>
          </a:stretch>
        </p:blipFill>
        <p:spPr>
          <a:xfrm>
            <a:off x="496119" y="2199680"/>
            <a:ext cx="2037904" cy="567035"/>
          </a:xfrm>
          <a:prstGeom prst="rect">
            <a:avLst/>
          </a:prstGeom>
        </p:spPr>
      </p:pic>
      <p:sp>
        <p:nvSpPr>
          <p:cNvPr id="5" name="Text 2"/>
          <p:cNvSpPr/>
          <p:nvPr/>
        </p:nvSpPr>
        <p:spPr>
          <a:xfrm>
            <a:off x="637877" y="2908474"/>
            <a:ext cx="1754386" cy="221456"/>
          </a:xfrm>
          <a:prstGeom prst="rect">
            <a:avLst/>
          </a:prstGeom>
          <a:noFill/>
          <a:ln/>
        </p:spPr>
        <p:txBody>
          <a:bodyPr wrap="none" lIns="0" tIns="0" rIns="0" bIns="0" rtlCol="0" anchor="t"/>
          <a:lstStyle/>
          <a:p>
            <a:pPr marL="0" indent="0" algn="l">
              <a:lnSpc>
                <a:spcPts val="1700"/>
              </a:lnSpc>
              <a:buNone/>
            </a:pPr>
            <a:r>
              <a:rPr lang="en-US" sz="1350" dirty="0">
                <a:solidFill>
                  <a:srgbClr val="C6D1D6"/>
                </a:solidFill>
                <a:latin typeface="Geist Medium" pitchFamily="34" charset="0"/>
                <a:ea typeface="Geist Medium" pitchFamily="34" charset="-122"/>
                <a:cs typeface="Geist Medium" pitchFamily="34" charset="-120"/>
              </a:rPr>
              <a:t>DATASET</a:t>
            </a:r>
            <a:endParaRPr lang="en-US" sz="1350" dirty="0"/>
          </a:p>
        </p:txBody>
      </p:sp>
      <p:sp>
        <p:nvSpPr>
          <p:cNvPr id="6" name="Text 3"/>
          <p:cNvSpPr/>
          <p:nvPr/>
        </p:nvSpPr>
        <p:spPr>
          <a:xfrm>
            <a:off x="637877" y="3214985"/>
            <a:ext cx="1754386" cy="736997"/>
          </a:xfrm>
          <a:prstGeom prst="rect">
            <a:avLst/>
          </a:prstGeom>
          <a:noFill/>
          <a:ln/>
        </p:spPr>
        <p:txBody>
          <a:bodyPr wrap="squar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Pakistan AQI CSV with city, PM2.5, AQI, smog/monsoon/crop seasons, and AQI category.</a:t>
            </a:r>
            <a:endParaRPr lang="en-US" sz="1100" dirty="0"/>
          </a:p>
        </p:txBody>
      </p:sp>
      <p:pic>
        <p:nvPicPr>
          <p:cNvPr id="7" name="Image 1" descr="preencoded.png"/>
          <p:cNvPicPr>
            <a:picLocks noChangeAspect="1"/>
          </p:cNvPicPr>
          <p:nvPr/>
        </p:nvPicPr>
        <p:blipFill>
          <a:blip r:embed="rId4"/>
          <a:stretch>
            <a:fillRect/>
          </a:stretch>
        </p:blipFill>
        <p:spPr>
          <a:xfrm>
            <a:off x="2534022" y="2199680"/>
            <a:ext cx="2037978" cy="567035"/>
          </a:xfrm>
          <a:prstGeom prst="rect">
            <a:avLst/>
          </a:prstGeom>
        </p:spPr>
      </p:pic>
      <p:sp>
        <p:nvSpPr>
          <p:cNvPr id="8" name="Text 4"/>
          <p:cNvSpPr/>
          <p:nvPr/>
        </p:nvSpPr>
        <p:spPr>
          <a:xfrm>
            <a:off x="2675781" y="2908474"/>
            <a:ext cx="1754460" cy="442913"/>
          </a:xfrm>
          <a:prstGeom prst="rect">
            <a:avLst/>
          </a:prstGeom>
          <a:noFill/>
          <a:ln/>
        </p:spPr>
        <p:txBody>
          <a:bodyPr wrap="square" lIns="0" tIns="0" rIns="0" bIns="0" rtlCol="0" anchor="t"/>
          <a:lstStyle/>
          <a:p>
            <a:pPr marL="0" indent="0" algn="l">
              <a:lnSpc>
                <a:spcPts val="1700"/>
              </a:lnSpc>
              <a:buNone/>
            </a:pPr>
            <a:r>
              <a:rPr lang="en-US" sz="1350" dirty="0">
                <a:solidFill>
                  <a:srgbClr val="C6D1D6"/>
                </a:solidFill>
                <a:latin typeface="Geist Medium" pitchFamily="34" charset="0"/>
                <a:ea typeface="Geist Medium" pitchFamily="34" charset="-122"/>
                <a:cs typeface="Geist Medium" pitchFamily="34" charset="-120"/>
              </a:rPr>
              <a:t>EDA &amp; FEATURE SELECTION</a:t>
            </a:r>
            <a:endParaRPr lang="en-US" sz="1350" dirty="0"/>
          </a:p>
        </p:txBody>
      </p:sp>
      <p:sp>
        <p:nvSpPr>
          <p:cNvPr id="9" name="Text 5"/>
          <p:cNvSpPr/>
          <p:nvPr/>
        </p:nvSpPr>
        <p:spPr>
          <a:xfrm>
            <a:off x="2675781" y="3436441"/>
            <a:ext cx="1754460" cy="736997"/>
          </a:xfrm>
          <a:prstGeom prst="rect">
            <a:avLst/>
          </a:prstGeom>
          <a:noFill/>
          <a:ln/>
        </p:spPr>
        <p:txBody>
          <a:bodyPr wrap="squar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Jupyter notebook: AQI distribution, city averages, correlation heatmap, missing value checks.</a:t>
            </a:r>
            <a:endParaRPr lang="en-US" sz="1100" dirty="0"/>
          </a:p>
        </p:txBody>
      </p:sp>
      <p:pic>
        <p:nvPicPr>
          <p:cNvPr id="10" name="Image 2" descr="preencoded.png"/>
          <p:cNvPicPr>
            <a:picLocks noChangeAspect="1"/>
          </p:cNvPicPr>
          <p:nvPr/>
        </p:nvPicPr>
        <p:blipFill>
          <a:blip r:embed="rId5"/>
          <a:stretch>
            <a:fillRect/>
          </a:stretch>
        </p:blipFill>
        <p:spPr>
          <a:xfrm>
            <a:off x="4572000" y="2199680"/>
            <a:ext cx="2037904" cy="567035"/>
          </a:xfrm>
          <a:prstGeom prst="rect">
            <a:avLst/>
          </a:prstGeom>
        </p:spPr>
      </p:pic>
      <p:sp>
        <p:nvSpPr>
          <p:cNvPr id="11" name="Text 6"/>
          <p:cNvSpPr/>
          <p:nvPr/>
        </p:nvSpPr>
        <p:spPr>
          <a:xfrm>
            <a:off x="4713759" y="2908474"/>
            <a:ext cx="1754386" cy="221456"/>
          </a:xfrm>
          <a:prstGeom prst="rect">
            <a:avLst/>
          </a:prstGeom>
          <a:noFill/>
          <a:ln/>
        </p:spPr>
        <p:txBody>
          <a:bodyPr wrap="none" lIns="0" tIns="0" rIns="0" bIns="0" rtlCol="0" anchor="t"/>
          <a:lstStyle/>
          <a:p>
            <a:pPr marL="0" indent="0" algn="l">
              <a:lnSpc>
                <a:spcPts val="1700"/>
              </a:lnSpc>
              <a:buNone/>
            </a:pPr>
            <a:r>
              <a:rPr lang="en-US" sz="1350" dirty="0">
                <a:solidFill>
                  <a:srgbClr val="C6D1D6"/>
                </a:solidFill>
                <a:latin typeface="Geist Medium" pitchFamily="34" charset="0"/>
                <a:ea typeface="Geist Medium" pitchFamily="34" charset="-122"/>
                <a:cs typeface="Geist Medium" pitchFamily="34" charset="-120"/>
              </a:rPr>
              <a:t>MODEL TRAINING</a:t>
            </a:r>
            <a:endParaRPr lang="en-US" sz="1350" dirty="0"/>
          </a:p>
        </p:txBody>
      </p:sp>
      <p:sp>
        <p:nvSpPr>
          <p:cNvPr id="12" name="Text 7"/>
          <p:cNvSpPr/>
          <p:nvPr/>
        </p:nvSpPr>
        <p:spPr>
          <a:xfrm>
            <a:off x="4713759" y="3214985"/>
            <a:ext cx="1754386" cy="741759"/>
          </a:xfrm>
          <a:prstGeom prst="rect">
            <a:avLst/>
          </a:prstGeom>
          <a:noFill/>
          <a:ln/>
        </p:spPr>
        <p:txBody>
          <a:bodyPr wrap="squar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Random Forest trained, tested, and saved as </a:t>
            </a:r>
            <a:r>
              <a:rPr lang="en-US" sz="1100" dirty="0">
                <a:solidFill>
                  <a:srgbClr val="C6D1D6"/>
                </a:solidFill>
                <a:highlight>
                  <a:srgbClr val="111927"/>
                </a:highlight>
                <a:latin typeface="Consolas" pitchFamily="34" charset="0"/>
                <a:ea typeface="Consolas" pitchFamily="34" charset="-122"/>
                <a:cs typeface="Consolas" pitchFamily="34" charset="-120"/>
              </a:rPr>
              <a:t>risk_model.pkl</a:t>
            </a:r>
            <a:r>
              <a:rPr lang="en-US" sz="1100" dirty="0">
                <a:solidFill>
                  <a:srgbClr val="C6D1D6"/>
                </a:solidFill>
                <a:latin typeface="Geist" pitchFamily="34" charset="0"/>
                <a:ea typeface="Geist" pitchFamily="34" charset="-122"/>
                <a:cs typeface="Geist" pitchFamily="34" charset="-120"/>
              </a:rPr>
              <a:t> using Scikit-learn + Joblib.</a:t>
            </a:r>
            <a:endParaRPr lang="en-US" sz="1100" dirty="0"/>
          </a:p>
        </p:txBody>
      </p:sp>
      <p:pic>
        <p:nvPicPr>
          <p:cNvPr id="13" name="Image 3" descr="preencoded.png"/>
          <p:cNvPicPr>
            <a:picLocks noChangeAspect="1"/>
          </p:cNvPicPr>
          <p:nvPr/>
        </p:nvPicPr>
        <p:blipFill>
          <a:blip r:embed="rId6"/>
          <a:stretch>
            <a:fillRect/>
          </a:stretch>
        </p:blipFill>
        <p:spPr>
          <a:xfrm>
            <a:off x="6609904" y="2199680"/>
            <a:ext cx="2037978" cy="567035"/>
          </a:xfrm>
          <a:prstGeom prst="rect">
            <a:avLst/>
          </a:prstGeom>
        </p:spPr>
      </p:pic>
      <p:sp>
        <p:nvSpPr>
          <p:cNvPr id="14" name="Text 8"/>
          <p:cNvSpPr/>
          <p:nvPr/>
        </p:nvSpPr>
        <p:spPr>
          <a:xfrm>
            <a:off x="6751662" y="2908474"/>
            <a:ext cx="1754460" cy="442913"/>
          </a:xfrm>
          <a:prstGeom prst="rect">
            <a:avLst/>
          </a:prstGeom>
          <a:noFill/>
          <a:ln/>
        </p:spPr>
        <p:txBody>
          <a:bodyPr wrap="square" lIns="0" tIns="0" rIns="0" bIns="0" rtlCol="0" anchor="t"/>
          <a:lstStyle/>
          <a:p>
            <a:pPr marL="0" indent="0" algn="l">
              <a:lnSpc>
                <a:spcPts val="1700"/>
              </a:lnSpc>
              <a:buNone/>
            </a:pPr>
            <a:r>
              <a:rPr lang="en-US" sz="1350" dirty="0">
                <a:solidFill>
                  <a:srgbClr val="C6D1D6"/>
                </a:solidFill>
                <a:latin typeface="Geist Medium" pitchFamily="34" charset="0"/>
                <a:ea typeface="Geist Medium" pitchFamily="34" charset="-122"/>
                <a:cs typeface="Geist Medium" pitchFamily="34" charset="-120"/>
              </a:rPr>
              <a:t>PREDICTION OUTPUT</a:t>
            </a:r>
            <a:endParaRPr lang="en-US" sz="1350" dirty="0"/>
          </a:p>
        </p:txBody>
      </p:sp>
      <p:sp>
        <p:nvSpPr>
          <p:cNvPr id="15" name="Text 9"/>
          <p:cNvSpPr/>
          <p:nvPr/>
        </p:nvSpPr>
        <p:spPr>
          <a:xfrm>
            <a:off x="6751662" y="3436441"/>
            <a:ext cx="1754460" cy="921246"/>
          </a:xfrm>
          <a:prstGeom prst="rect">
            <a:avLst/>
          </a:prstGeom>
          <a:noFill/>
          <a:ln/>
        </p:spPr>
        <p:txBody>
          <a:bodyPr wrap="squar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Returns personalized health risk level based on age, asthma, COPD, outdoor job, smoking, and heart disease inputs.</a:t>
            </a:r>
            <a:endParaRPr lang="en-US" sz="1100" dirty="0"/>
          </a:p>
        </p:txBody>
      </p:sp>
      <p:sp>
        <p:nvSpPr>
          <p:cNvPr id="16" name="Rectangle 15"/>
          <p:cNvSpPr/>
          <p:nvPr/>
        </p:nvSpPr>
        <p:spPr>
          <a:xfrm>
            <a:off x="8070574" y="4880113"/>
            <a:ext cx="974035" cy="1888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651421"/>
            <a:ext cx="7205960" cy="442987"/>
          </a:xfrm>
          <a:prstGeom prst="rect">
            <a:avLst/>
          </a:prstGeom>
          <a:noFill/>
          <a:ln/>
        </p:spPr>
        <p:txBody>
          <a:bodyPr wrap="none" lIns="0" tIns="0" rIns="0" bIns="0" rtlCol="0" anchor="t"/>
          <a:lstStyle/>
          <a:p>
            <a:pPr marL="0" indent="0" algn="l">
              <a:lnSpc>
                <a:spcPts val="3450"/>
              </a:lnSpc>
              <a:buNone/>
            </a:pPr>
            <a:r>
              <a:rPr lang="en-US" sz="2750" dirty="0">
                <a:solidFill>
                  <a:srgbClr val="C6D1D6"/>
                </a:solidFill>
                <a:latin typeface="Geist Medium" pitchFamily="34" charset="0"/>
                <a:ea typeface="Geist Medium" pitchFamily="34" charset="-122"/>
                <a:cs typeface="Geist Medium" pitchFamily="34" charset="-120"/>
              </a:rPr>
              <a:t>KEY FRONTEND &amp; BACKEND COMPONENTS</a:t>
            </a:r>
            <a:endParaRPr lang="en-US" sz="2750" dirty="0"/>
          </a:p>
        </p:txBody>
      </p:sp>
      <p:sp>
        <p:nvSpPr>
          <p:cNvPr id="3" name="Shape 1"/>
          <p:cNvSpPr/>
          <p:nvPr/>
        </p:nvSpPr>
        <p:spPr>
          <a:xfrm>
            <a:off x="496119" y="1377925"/>
            <a:ext cx="8151763" cy="3114080"/>
          </a:xfrm>
          <a:prstGeom prst="roundRect">
            <a:avLst>
              <a:gd name="adj" fmla="val 4097"/>
            </a:avLst>
          </a:prstGeom>
          <a:noFill/>
          <a:ln w="4763">
            <a:solidFill>
              <a:srgbClr val="FFFFFF">
                <a:alpha val="24000"/>
              </a:srgbClr>
            </a:solidFill>
            <a:prstDash val="solid"/>
          </a:ln>
        </p:spPr>
      </p:sp>
      <p:sp>
        <p:nvSpPr>
          <p:cNvPr id="4" name="Shape 2"/>
          <p:cNvSpPr/>
          <p:nvPr/>
        </p:nvSpPr>
        <p:spPr>
          <a:xfrm>
            <a:off x="500881" y="1382688"/>
            <a:ext cx="8142238" cy="363885"/>
          </a:xfrm>
          <a:prstGeom prst="rect">
            <a:avLst/>
          </a:prstGeom>
          <a:solidFill>
            <a:srgbClr val="FFFFFF">
              <a:alpha val="4000"/>
            </a:srgbClr>
          </a:solidFill>
          <a:ln/>
        </p:spPr>
      </p:sp>
      <p:sp>
        <p:nvSpPr>
          <p:cNvPr id="5" name="Text 3"/>
          <p:cNvSpPr/>
          <p:nvPr/>
        </p:nvSpPr>
        <p:spPr>
          <a:xfrm>
            <a:off x="642789" y="1472505"/>
            <a:ext cx="2156743" cy="184249"/>
          </a:xfrm>
          <a:prstGeom prst="rect">
            <a:avLst/>
          </a:prstGeom>
          <a:noFill/>
          <a:ln/>
        </p:spPr>
        <p:txBody>
          <a:bodyPr wrap="none" lIns="0" tIns="0" rIns="0" bIns="0" rtlCol="0" anchor="t"/>
          <a:lstStyle/>
          <a:p>
            <a:pPr marL="0" indent="0" algn="l">
              <a:lnSpc>
                <a:spcPts val="1450"/>
              </a:lnSpc>
              <a:buNone/>
            </a:pPr>
            <a:r>
              <a:rPr lang="en-US" sz="1100" b="1" dirty="0">
                <a:solidFill>
                  <a:srgbClr val="C6D1D6"/>
                </a:solidFill>
                <a:latin typeface="Geist" pitchFamily="34" charset="0"/>
                <a:ea typeface="Geist" pitchFamily="34" charset="-122"/>
                <a:cs typeface="Geist" pitchFamily="34" charset="-120"/>
              </a:rPr>
              <a:t>Component / File</a:t>
            </a:r>
            <a:endParaRPr lang="en-US" sz="1100" dirty="0"/>
          </a:p>
        </p:txBody>
      </p:sp>
      <p:sp>
        <p:nvSpPr>
          <p:cNvPr id="6" name="Text 4"/>
          <p:cNvSpPr/>
          <p:nvPr/>
        </p:nvSpPr>
        <p:spPr>
          <a:xfrm>
            <a:off x="3087812" y="1472505"/>
            <a:ext cx="1747242" cy="184249"/>
          </a:xfrm>
          <a:prstGeom prst="rect">
            <a:avLst/>
          </a:prstGeom>
          <a:noFill/>
          <a:ln/>
        </p:spPr>
        <p:txBody>
          <a:bodyPr wrap="none" lIns="0" tIns="0" rIns="0" bIns="0" rtlCol="0" anchor="t"/>
          <a:lstStyle/>
          <a:p>
            <a:pPr marL="0" indent="0" algn="l">
              <a:lnSpc>
                <a:spcPts val="1450"/>
              </a:lnSpc>
              <a:buNone/>
            </a:pPr>
            <a:r>
              <a:rPr lang="en-US" sz="1100" b="1" dirty="0">
                <a:solidFill>
                  <a:srgbClr val="C6D1D6"/>
                </a:solidFill>
                <a:latin typeface="Geist" pitchFamily="34" charset="0"/>
                <a:ea typeface="Geist" pitchFamily="34" charset="-122"/>
                <a:cs typeface="Geist" pitchFamily="34" charset="-120"/>
              </a:rPr>
              <a:t>Type</a:t>
            </a:r>
            <a:endParaRPr lang="en-US" sz="1100" dirty="0"/>
          </a:p>
        </p:txBody>
      </p:sp>
      <p:sp>
        <p:nvSpPr>
          <p:cNvPr id="7" name="Text 5"/>
          <p:cNvSpPr/>
          <p:nvPr/>
        </p:nvSpPr>
        <p:spPr>
          <a:xfrm>
            <a:off x="5123334" y="1472505"/>
            <a:ext cx="1340123" cy="184249"/>
          </a:xfrm>
          <a:prstGeom prst="rect">
            <a:avLst/>
          </a:prstGeom>
          <a:noFill/>
          <a:ln/>
        </p:spPr>
        <p:txBody>
          <a:bodyPr wrap="none" lIns="0" tIns="0" rIns="0" bIns="0" rtlCol="0" anchor="t"/>
          <a:lstStyle/>
          <a:p>
            <a:pPr marL="0" indent="0" algn="l">
              <a:lnSpc>
                <a:spcPts val="1450"/>
              </a:lnSpc>
              <a:buNone/>
            </a:pPr>
            <a:r>
              <a:rPr lang="en-US" sz="1100" b="1" dirty="0">
                <a:solidFill>
                  <a:srgbClr val="C6D1D6"/>
                </a:solidFill>
                <a:latin typeface="Geist" pitchFamily="34" charset="0"/>
                <a:ea typeface="Geist" pitchFamily="34" charset="-122"/>
                <a:cs typeface="Geist" pitchFamily="34" charset="-120"/>
              </a:rPr>
              <a:t>Tool Used</a:t>
            </a:r>
            <a:endParaRPr lang="en-US" sz="1100" dirty="0"/>
          </a:p>
        </p:txBody>
      </p:sp>
      <p:sp>
        <p:nvSpPr>
          <p:cNvPr id="8" name="Text 6"/>
          <p:cNvSpPr/>
          <p:nvPr/>
        </p:nvSpPr>
        <p:spPr>
          <a:xfrm>
            <a:off x="6751737" y="1472505"/>
            <a:ext cx="1749623" cy="184249"/>
          </a:xfrm>
          <a:prstGeom prst="rect">
            <a:avLst/>
          </a:prstGeom>
          <a:noFill/>
          <a:ln/>
        </p:spPr>
        <p:txBody>
          <a:bodyPr wrap="none" lIns="0" tIns="0" rIns="0" bIns="0" rtlCol="0" anchor="t"/>
          <a:lstStyle/>
          <a:p>
            <a:pPr marL="0" indent="0" algn="l">
              <a:lnSpc>
                <a:spcPts val="1450"/>
              </a:lnSpc>
              <a:buNone/>
            </a:pPr>
            <a:r>
              <a:rPr lang="en-US" sz="1100" b="1" dirty="0">
                <a:solidFill>
                  <a:srgbClr val="C6D1D6"/>
                </a:solidFill>
                <a:latin typeface="Geist" pitchFamily="34" charset="0"/>
                <a:ea typeface="Geist" pitchFamily="34" charset="-122"/>
                <a:cs typeface="Geist" pitchFamily="34" charset="-120"/>
              </a:rPr>
              <a:t>Purpose</a:t>
            </a:r>
            <a:endParaRPr lang="en-US" sz="1100" dirty="0"/>
          </a:p>
        </p:txBody>
      </p:sp>
      <p:sp>
        <p:nvSpPr>
          <p:cNvPr id="9" name="Shape 7"/>
          <p:cNvSpPr/>
          <p:nvPr/>
        </p:nvSpPr>
        <p:spPr>
          <a:xfrm>
            <a:off x="500881" y="1746572"/>
            <a:ext cx="8142238" cy="548134"/>
          </a:xfrm>
          <a:prstGeom prst="rect">
            <a:avLst/>
          </a:prstGeom>
          <a:solidFill>
            <a:srgbClr val="000000">
              <a:alpha val="4000"/>
            </a:srgbClr>
          </a:solidFill>
          <a:ln/>
        </p:spPr>
      </p:sp>
      <p:sp>
        <p:nvSpPr>
          <p:cNvPr id="10" name="Text 8"/>
          <p:cNvSpPr/>
          <p:nvPr/>
        </p:nvSpPr>
        <p:spPr>
          <a:xfrm>
            <a:off x="642789" y="1836390"/>
            <a:ext cx="2156743" cy="184249"/>
          </a:xfrm>
          <a:prstGeom prst="rect">
            <a:avLst/>
          </a:prstGeom>
          <a:noFill/>
          <a:ln/>
        </p:spPr>
        <p:txBody>
          <a:bodyPr wrap="non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RiskForm.jsx</a:t>
            </a:r>
            <a:endParaRPr lang="en-US" sz="1100" dirty="0"/>
          </a:p>
        </p:txBody>
      </p:sp>
      <p:sp>
        <p:nvSpPr>
          <p:cNvPr id="11" name="Text 9"/>
          <p:cNvSpPr/>
          <p:nvPr/>
        </p:nvSpPr>
        <p:spPr>
          <a:xfrm>
            <a:off x="3087812" y="1836390"/>
            <a:ext cx="1747242" cy="184249"/>
          </a:xfrm>
          <a:prstGeom prst="rect">
            <a:avLst/>
          </a:prstGeom>
          <a:noFill/>
          <a:ln/>
        </p:spPr>
        <p:txBody>
          <a:bodyPr wrap="non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Frontend</a:t>
            </a:r>
            <a:endParaRPr lang="en-US" sz="1100" dirty="0"/>
          </a:p>
        </p:txBody>
      </p:sp>
      <p:sp>
        <p:nvSpPr>
          <p:cNvPr id="12" name="Text 10"/>
          <p:cNvSpPr/>
          <p:nvPr/>
        </p:nvSpPr>
        <p:spPr>
          <a:xfrm>
            <a:off x="5123334" y="1836390"/>
            <a:ext cx="1340123" cy="184249"/>
          </a:xfrm>
          <a:prstGeom prst="rect">
            <a:avLst/>
          </a:prstGeom>
          <a:noFill/>
          <a:ln/>
        </p:spPr>
        <p:txBody>
          <a:bodyPr wrap="non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React + Axios</a:t>
            </a:r>
            <a:endParaRPr lang="en-US" sz="1100" dirty="0"/>
          </a:p>
        </p:txBody>
      </p:sp>
      <p:sp>
        <p:nvSpPr>
          <p:cNvPr id="13" name="Text 11"/>
          <p:cNvSpPr/>
          <p:nvPr/>
        </p:nvSpPr>
        <p:spPr>
          <a:xfrm>
            <a:off x="6751737" y="1836390"/>
            <a:ext cx="1749623" cy="368498"/>
          </a:xfrm>
          <a:prstGeom prst="rect">
            <a:avLst/>
          </a:prstGeom>
          <a:noFill/>
          <a:ln/>
        </p:spPr>
        <p:txBody>
          <a:bodyPr wrap="squar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Sends user health data → ML prediction</a:t>
            </a:r>
            <a:endParaRPr lang="en-US" sz="1100" dirty="0"/>
          </a:p>
        </p:txBody>
      </p:sp>
      <p:sp>
        <p:nvSpPr>
          <p:cNvPr id="14" name="Shape 12"/>
          <p:cNvSpPr/>
          <p:nvPr/>
        </p:nvSpPr>
        <p:spPr>
          <a:xfrm>
            <a:off x="500881" y="2294706"/>
            <a:ext cx="8142238" cy="548134"/>
          </a:xfrm>
          <a:prstGeom prst="rect">
            <a:avLst/>
          </a:prstGeom>
          <a:solidFill>
            <a:srgbClr val="FFFFFF">
              <a:alpha val="4000"/>
            </a:srgbClr>
          </a:solidFill>
          <a:ln/>
        </p:spPr>
      </p:sp>
      <p:sp>
        <p:nvSpPr>
          <p:cNvPr id="15" name="Text 13"/>
          <p:cNvSpPr/>
          <p:nvPr/>
        </p:nvSpPr>
        <p:spPr>
          <a:xfrm>
            <a:off x="642789" y="2384524"/>
            <a:ext cx="2156743" cy="184249"/>
          </a:xfrm>
          <a:prstGeom prst="rect">
            <a:avLst/>
          </a:prstGeom>
          <a:noFill/>
          <a:ln/>
        </p:spPr>
        <p:txBody>
          <a:bodyPr wrap="non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AQIChart.jsx</a:t>
            </a:r>
            <a:endParaRPr lang="en-US" sz="1100" dirty="0"/>
          </a:p>
        </p:txBody>
      </p:sp>
      <p:sp>
        <p:nvSpPr>
          <p:cNvPr id="16" name="Text 14"/>
          <p:cNvSpPr/>
          <p:nvPr/>
        </p:nvSpPr>
        <p:spPr>
          <a:xfrm>
            <a:off x="3087812" y="2384524"/>
            <a:ext cx="1747242" cy="184249"/>
          </a:xfrm>
          <a:prstGeom prst="rect">
            <a:avLst/>
          </a:prstGeom>
          <a:noFill/>
          <a:ln/>
        </p:spPr>
        <p:txBody>
          <a:bodyPr wrap="non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Frontend</a:t>
            </a:r>
            <a:endParaRPr lang="en-US" sz="1100" dirty="0"/>
          </a:p>
        </p:txBody>
      </p:sp>
      <p:sp>
        <p:nvSpPr>
          <p:cNvPr id="17" name="Text 15"/>
          <p:cNvSpPr/>
          <p:nvPr/>
        </p:nvSpPr>
        <p:spPr>
          <a:xfrm>
            <a:off x="5123334" y="2384524"/>
            <a:ext cx="1340123" cy="184249"/>
          </a:xfrm>
          <a:prstGeom prst="rect">
            <a:avLst/>
          </a:prstGeom>
          <a:noFill/>
          <a:ln/>
        </p:spPr>
        <p:txBody>
          <a:bodyPr wrap="non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Recharts</a:t>
            </a:r>
            <a:endParaRPr lang="en-US" sz="1100" dirty="0"/>
          </a:p>
        </p:txBody>
      </p:sp>
      <p:sp>
        <p:nvSpPr>
          <p:cNvPr id="18" name="Text 16"/>
          <p:cNvSpPr/>
          <p:nvPr/>
        </p:nvSpPr>
        <p:spPr>
          <a:xfrm>
            <a:off x="6751737" y="2384524"/>
            <a:ext cx="1749623" cy="368498"/>
          </a:xfrm>
          <a:prstGeom prst="rect">
            <a:avLst/>
          </a:prstGeom>
          <a:noFill/>
          <a:ln/>
        </p:spPr>
        <p:txBody>
          <a:bodyPr wrap="squar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AQI trend graph visualization</a:t>
            </a:r>
            <a:endParaRPr lang="en-US" sz="1100" dirty="0"/>
          </a:p>
        </p:txBody>
      </p:sp>
      <p:sp>
        <p:nvSpPr>
          <p:cNvPr id="19" name="Shape 17"/>
          <p:cNvSpPr/>
          <p:nvPr/>
        </p:nvSpPr>
        <p:spPr>
          <a:xfrm>
            <a:off x="500881" y="2842840"/>
            <a:ext cx="8142238" cy="548134"/>
          </a:xfrm>
          <a:prstGeom prst="rect">
            <a:avLst/>
          </a:prstGeom>
          <a:solidFill>
            <a:srgbClr val="000000">
              <a:alpha val="4000"/>
            </a:srgbClr>
          </a:solidFill>
          <a:ln/>
        </p:spPr>
      </p:sp>
      <p:sp>
        <p:nvSpPr>
          <p:cNvPr id="20" name="Text 18"/>
          <p:cNvSpPr/>
          <p:nvPr/>
        </p:nvSpPr>
        <p:spPr>
          <a:xfrm>
            <a:off x="642789" y="2932658"/>
            <a:ext cx="2156743" cy="184249"/>
          </a:xfrm>
          <a:prstGeom prst="rect">
            <a:avLst/>
          </a:prstGeom>
          <a:noFill/>
          <a:ln/>
        </p:spPr>
        <p:txBody>
          <a:bodyPr wrap="non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PollutionMap.jsx</a:t>
            </a:r>
            <a:endParaRPr lang="en-US" sz="1100" dirty="0"/>
          </a:p>
        </p:txBody>
      </p:sp>
      <p:sp>
        <p:nvSpPr>
          <p:cNvPr id="21" name="Text 19"/>
          <p:cNvSpPr/>
          <p:nvPr/>
        </p:nvSpPr>
        <p:spPr>
          <a:xfrm>
            <a:off x="3087812" y="2932658"/>
            <a:ext cx="1747242" cy="184249"/>
          </a:xfrm>
          <a:prstGeom prst="rect">
            <a:avLst/>
          </a:prstGeom>
          <a:noFill/>
          <a:ln/>
        </p:spPr>
        <p:txBody>
          <a:bodyPr wrap="non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Frontend</a:t>
            </a:r>
            <a:endParaRPr lang="en-US" sz="1100" dirty="0"/>
          </a:p>
        </p:txBody>
      </p:sp>
      <p:sp>
        <p:nvSpPr>
          <p:cNvPr id="22" name="Text 20"/>
          <p:cNvSpPr/>
          <p:nvPr/>
        </p:nvSpPr>
        <p:spPr>
          <a:xfrm>
            <a:off x="5123334" y="2932658"/>
            <a:ext cx="1340123" cy="184249"/>
          </a:xfrm>
          <a:prstGeom prst="rect">
            <a:avLst/>
          </a:prstGeom>
          <a:noFill/>
          <a:ln/>
        </p:spPr>
        <p:txBody>
          <a:bodyPr wrap="non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React Leaflet</a:t>
            </a:r>
            <a:endParaRPr lang="en-US" sz="1100" dirty="0"/>
          </a:p>
        </p:txBody>
      </p:sp>
      <p:sp>
        <p:nvSpPr>
          <p:cNvPr id="23" name="Text 21"/>
          <p:cNvSpPr/>
          <p:nvPr/>
        </p:nvSpPr>
        <p:spPr>
          <a:xfrm>
            <a:off x="6751737" y="2932658"/>
            <a:ext cx="1749623" cy="368498"/>
          </a:xfrm>
          <a:prstGeom prst="rect">
            <a:avLst/>
          </a:prstGeom>
          <a:noFill/>
          <a:ln/>
        </p:spPr>
        <p:txBody>
          <a:bodyPr wrap="squar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Interactive city pollution markers</a:t>
            </a:r>
            <a:endParaRPr lang="en-US" sz="1100" dirty="0"/>
          </a:p>
        </p:txBody>
      </p:sp>
      <p:sp>
        <p:nvSpPr>
          <p:cNvPr id="24" name="Shape 22"/>
          <p:cNvSpPr/>
          <p:nvPr/>
        </p:nvSpPr>
        <p:spPr>
          <a:xfrm>
            <a:off x="500881" y="3390974"/>
            <a:ext cx="8142238" cy="548134"/>
          </a:xfrm>
          <a:prstGeom prst="rect">
            <a:avLst/>
          </a:prstGeom>
          <a:solidFill>
            <a:srgbClr val="FFFFFF">
              <a:alpha val="4000"/>
            </a:srgbClr>
          </a:solidFill>
          <a:ln/>
        </p:spPr>
      </p:sp>
      <p:sp>
        <p:nvSpPr>
          <p:cNvPr id="25" name="Text 23"/>
          <p:cNvSpPr/>
          <p:nvPr/>
        </p:nvSpPr>
        <p:spPr>
          <a:xfrm>
            <a:off x="642789" y="3480792"/>
            <a:ext cx="2156743" cy="184249"/>
          </a:xfrm>
          <a:prstGeom prst="rect">
            <a:avLst/>
          </a:prstGeom>
          <a:noFill/>
          <a:ln/>
        </p:spPr>
        <p:txBody>
          <a:bodyPr wrap="non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Chatbot.jsx</a:t>
            </a:r>
            <a:endParaRPr lang="en-US" sz="1100" dirty="0"/>
          </a:p>
        </p:txBody>
      </p:sp>
      <p:sp>
        <p:nvSpPr>
          <p:cNvPr id="26" name="Text 24"/>
          <p:cNvSpPr/>
          <p:nvPr/>
        </p:nvSpPr>
        <p:spPr>
          <a:xfrm>
            <a:off x="3087812" y="3480792"/>
            <a:ext cx="1747242" cy="184249"/>
          </a:xfrm>
          <a:prstGeom prst="rect">
            <a:avLst/>
          </a:prstGeom>
          <a:noFill/>
          <a:ln/>
        </p:spPr>
        <p:txBody>
          <a:bodyPr wrap="non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Frontend</a:t>
            </a:r>
            <a:endParaRPr lang="en-US" sz="1100" dirty="0"/>
          </a:p>
        </p:txBody>
      </p:sp>
      <p:sp>
        <p:nvSpPr>
          <p:cNvPr id="27" name="Text 25"/>
          <p:cNvSpPr/>
          <p:nvPr/>
        </p:nvSpPr>
        <p:spPr>
          <a:xfrm>
            <a:off x="5123334" y="3480792"/>
            <a:ext cx="1340123" cy="184249"/>
          </a:xfrm>
          <a:prstGeom prst="rect">
            <a:avLst/>
          </a:prstGeom>
          <a:noFill/>
          <a:ln/>
        </p:spPr>
        <p:txBody>
          <a:bodyPr wrap="non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Gemini API</a:t>
            </a:r>
            <a:endParaRPr lang="en-US" sz="1100" dirty="0"/>
          </a:p>
        </p:txBody>
      </p:sp>
      <p:sp>
        <p:nvSpPr>
          <p:cNvPr id="28" name="Text 26"/>
          <p:cNvSpPr/>
          <p:nvPr/>
        </p:nvSpPr>
        <p:spPr>
          <a:xfrm>
            <a:off x="6751737" y="3480792"/>
            <a:ext cx="1749623" cy="368498"/>
          </a:xfrm>
          <a:prstGeom prst="rect">
            <a:avLst/>
          </a:prstGeom>
          <a:noFill/>
          <a:ln/>
        </p:spPr>
        <p:txBody>
          <a:bodyPr wrap="squar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AI health Q&amp;A with fallback</a:t>
            </a:r>
            <a:endParaRPr lang="en-US" sz="1100" dirty="0"/>
          </a:p>
        </p:txBody>
      </p:sp>
      <p:sp>
        <p:nvSpPr>
          <p:cNvPr id="29" name="Shape 27"/>
          <p:cNvSpPr/>
          <p:nvPr/>
        </p:nvSpPr>
        <p:spPr>
          <a:xfrm>
            <a:off x="500881" y="3939108"/>
            <a:ext cx="8142238" cy="548134"/>
          </a:xfrm>
          <a:prstGeom prst="rect">
            <a:avLst/>
          </a:prstGeom>
          <a:solidFill>
            <a:srgbClr val="000000">
              <a:alpha val="4000"/>
            </a:srgbClr>
          </a:solidFill>
          <a:ln/>
        </p:spPr>
      </p:sp>
      <p:sp>
        <p:nvSpPr>
          <p:cNvPr id="30" name="Text 28"/>
          <p:cNvSpPr/>
          <p:nvPr/>
        </p:nvSpPr>
        <p:spPr>
          <a:xfrm>
            <a:off x="642789" y="4028926"/>
            <a:ext cx="2156743" cy="184249"/>
          </a:xfrm>
          <a:prstGeom prst="rect">
            <a:avLst/>
          </a:prstGeom>
          <a:noFill/>
          <a:ln/>
        </p:spPr>
        <p:txBody>
          <a:bodyPr wrap="non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app.py (/predict, /chat)</a:t>
            </a:r>
            <a:endParaRPr lang="en-US" sz="1100" dirty="0"/>
          </a:p>
        </p:txBody>
      </p:sp>
      <p:sp>
        <p:nvSpPr>
          <p:cNvPr id="31" name="Text 29"/>
          <p:cNvSpPr/>
          <p:nvPr/>
        </p:nvSpPr>
        <p:spPr>
          <a:xfrm>
            <a:off x="3087812" y="4028926"/>
            <a:ext cx="1747242" cy="184249"/>
          </a:xfrm>
          <a:prstGeom prst="rect">
            <a:avLst/>
          </a:prstGeom>
          <a:noFill/>
          <a:ln/>
        </p:spPr>
        <p:txBody>
          <a:bodyPr wrap="non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Backend</a:t>
            </a:r>
            <a:endParaRPr lang="en-US" sz="1100" dirty="0"/>
          </a:p>
        </p:txBody>
      </p:sp>
      <p:sp>
        <p:nvSpPr>
          <p:cNvPr id="32" name="Text 30"/>
          <p:cNvSpPr/>
          <p:nvPr/>
        </p:nvSpPr>
        <p:spPr>
          <a:xfrm>
            <a:off x="5123334" y="4028926"/>
            <a:ext cx="1340123" cy="184249"/>
          </a:xfrm>
          <a:prstGeom prst="rect">
            <a:avLst/>
          </a:prstGeom>
          <a:noFill/>
          <a:ln/>
        </p:spPr>
        <p:txBody>
          <a:bodyPr wrap="non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FastAPI</a:t>
            </a:r>
            <a:endParaRPr lang="en-US" sz="1100" dirty="0"/>
          </a:p>
        </p:txBody>
      </p:sp>
      <p:sp>
        <p:nvSpPr>
          <p:cNvPr id="33" name="Text 31"/>
          <p:cNvSpPr/>
          <p:nvPr/>
        </p:nvSpPr>
        <p:spPr>
          <a:xfrm>
            <a:off x="6751737" y="4028926"/>
            <a:ext cx="1749623" cy="368498"/>
          </a:xfrm>
          <a:prstGeom prst="rect">
            <a:avLst/>
          </a:prstGeom>
          <a:noFill/>
          <a:ln/>
        </p:spPr>
        <p:txBody>
          <a:bodyPr wrap="square" lIns="0" tIns="0" rIns="0" bIns="0" rtlCol="0" anchor="t"/>
          <a:lstStyle/>
          <a:p>
            <a:pPr marL="0" indent="0" algn="l">
              <a:lnSpc>
                <a:spcPts val="1450"/>
              </a:lnSpc>
              <a:buNone/>
            </a:pPr>
            <a:r>
              <a:rPr lang="en-US" sz="1100" dirty="0">
                <a:solidFill>
                  <a:srgbClr val="C6D1D6"/>
                </a:solidFill>
                <a:latin typeface="Geist" pitchFamily="34" charset="0"/>
                <a:ea typeface="Geist" pitchFamily="34" charset="-122"/>
                <a:cs typeface="Geist" pitchFamily="34" charset="-120"/>
              </a:rPr>
              <a:t>ML prediction + chatbot endpoints</a:t>
            </a:r>
            <a:endParaRPr lang="en-US" sz="1100" dirty="0"/>
          </a:p>
        </p:txBody>
      </p:sp>
      <p:sp>
        <p:nvSpPr>
          <p:cNvPr id="34" name="Rectangle 33"/>
          <p:cNvSpPr/>
          <p:nvPr/>
        </p:nvSpPr>
        <p:spPr>
          <a:xfrm>
            <a:off x="8080513" y="4860235"/>
            <a:ext cx="974035" cy="1987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537046"/>
            <a:ext cx="6525816" cy="398711"/>
          </a:xfrm>
          <a:prstGeom prst="rect">
            <a:avLst/>
          </a:prstGeom>
          <a:noFill/>
          <a:ln/>
        </p:spPr>
        <p:txBody>
          <a:bodyPr wrap="none" lIns="0" tIns="0" rIns="0" bIns="0" rtlCol="0" anchor="t"/>
          <a:lstStyle/>
          <a:p>
            <a:pPr marL="0" indent="0" algn="l">
              <a:lnSpc>
                <a:spcPts val="3100"/>
              </a:lnSpc>
              <a:buNone/>
            </a:pPr>
            <a:r>
              <a:rPr lang="en-US" sz="2500" dirty="0">
                <a:solidFill>
                  <a:srgbClr val="C6D1D6"/>
                </a:solidFill>
                <a:latin typeface="Geist Medium" pitchFamily="34" charset="0"/>
                <a:ea typeface="Geist Medium" pitchFamily="34" charset="-122"/>
                <a:cs typeface="Geist Medium" pitchFamily="34" charset="-120"/>
              </a:rPr>
              <a:t>FULL SYSTEM FLOW &amp; PROJECT SUMMARY</a:t>
            </a:r>
            <a:endParaRPr lang="en-US" sz="250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496119" y="1181323"/>
            <a:ext cx="127546" cy="127546"/>
          </a:xfrm>
          <a:prstGeom prst="rect">
            <a:avLst/>
          </a:prstGeom>
        </p:spPr>
      </p:pic>
      <p:sp>
        <p:nvSpPr>
          <p:cNvPr id="4" name="Shape 1"/>
          <p:cNvSpPr/>
          <p:nvPr/>
        </p:nvSpPr>
        <p:spPr>
          <a:xfrm>
            <a:off x="496119" y="1367879"/>
            <a:ext cx="8151763" cy="14288"/>
          </a:xfrm>
          <a:prstGeom prst="rect">
            <a:avLst/>
          </a:prstGeom>
          <a:solidFill>
            <a:srgbClr val="2C3A4C"/>
          </a:solidFill>
          <a:ln/>
        </p:spPr>
      </p:sp>
      <p:sp>
        <p:nvSpPr>
          <p:cNvPr id="5" name="Text 2"/>
          <p:cNvSpPr/>
          <p:nvPr/>
        </p:nvSpPr>
        <p:spPr>
          <a:xfrm>
            <a:off x="496119" y="1460227"/>
            <a:ext cx="2003152" cy="199281"/>
          </a:xfrm>
          <a:prstGeom prst="rect">
            <a:avLst/>
          </a:prstGeom>
          <a:noFill/>
          <a:ln/>
        </p:spPr>
        <p:txBody>
          <a:bodyPr wrap="none" lIns="0" tIns="0" rIns="0" bIns="0" rtlCol="0" anchor="t"/>
          <a:lstStyle/>
          <a:p>
            <a:pPr marL="0" indent="0" algn="l">
              <a:lnSpc>
                <a:spcPts val="1550"/>
              </a:lnSpc>
              <a:buNone/>
            </a:pPr>
            <a:r>
              <a:rPr lang="en-US" sz="1250" dirty="0">
                <a:solidFill>
                  <a:srgbClr val="C6D1D6"/>
                </a:solidFill>
                <a:latin typeface="Geist Medium" pitchFamily="34" charset="0"/>
                <a:ea typeface="Geist Medium" pitchFamily="34" charset="-122"/>
                <a:cs typeface="Geist Medium" pitchFamily="34" charset="-120"/>
              </a:rPr>
              <a:t>USER OPENS DASHBOARD</a:t>
            </a:r>
            <a:endParaRPr lang="en-US" sz="1250" dirty="0"/>
          </a:p>
        </p:txBody>
      </p:sp>
      <p:sp>
        <p:nvSpPr>
          <p:cNvPr id="6" name="Text 3"/>
          <p:cNvSpPr/>
          <p:nvPr/>
        </p:nvSpPr>
        <p:spPr>
          <a:xfrm>
            <a:off x="496119" y="1728341"/>
            <a:ext cx="8151763" cy="157609"/>
          </a:xfrm>
          <a:prstGeom prst="rect">
            <a:avLst/>
          </a:prstGeom>
          <a:noFill/>
          <a:ln/>
        </p:spPr>
        <p:txBody>
          <a:bodyPr wrap="none" lIns="0" tIns="0" rIns="0" bIns="0" rtlCol="0" anchor="t"/>
          <a:lstStyle/>
          <a:p>
            <a:pPr marL="0" indent="0" algn="l">
              <a:lnSpc>
                <a:spcPts val="1200"/>
              </a:lnSpc>
              <a:buNone/>
            </a:pPr>
            <a:r>
              <a:rPr lang="en-US" sz="1000" dirty="0">
                <a:solidFill>
                  <a:srgbClr val="C6D1D6"/>
                </a:solidFill>
                <a:latin typeface="Geist" pitchFamily="34" charset="0"/>
                <a:ea typeface="Geist" pitchFamily="34" charset="-122"/>
                <a:cs typeface="Geist" pitchFamily="34" charset="-120"/>
              </a:rPr>
              <a:t>React loads AQI cards, trend chart, and Pakistan pollution map. City data populates all widgets instantly.</a:t>
            </a:r>
            <a:endParaRPr lang="en-US" sz="100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496119" y="2112318"/>
            <a:ext cx="127546" cy="127546"/>
          </a:xfrm>
          <a:prstGeom prst="rect">
            <a:avLst/>
          </a:prstGeom>
        </p:spPr>
      </p:pic>
      <p:sp>
        <p:nvSpPr>
          <p:cNvPr id="8" name="Shape 4"/>
          <p:cNvSpPr/>
          <p:nvPr/>
        </p:nvSpPr>
        <p:spPr>
          <a:xfrm>
            <a:off x="496119" y="2298874"/>
            <a:ext cx="8151763" cy="14288"/>
          </a:xfrm>
          <a:prstGeom prst="rect">
            <a:avLst/>
          </a:prstGeom>
          <a:solidFill>
            <a:srgbClr val="4B5F76"/>
          </a:solidFill>
          <a:ln/>
        </p:spPr>
      </p:sp>
      <p:sp>
        <p:nvSpPr>
          <p:cNvPr id="9" name="Text 5"/>
          <p:cNvSpPr/>
          <p:nvPr/>
        </p:nvSpPr>
        <p:spPr>
          <a:xfrm>
            <a:off x="496119" y="2391221"/>
            <a:ext cx="2146102" cy="199281"/>
          </a:xfrm>
          <a:prstGeom prst="rect">
            <a:avLst/>
          </a:prstGeom>
          <a:noFill/>
          <a:ln/>
        </p:spPr>
        <p:txBody>
          <a:bodyPr wrap="none" lIns="0" tIns="0" rIns="0" bIns="0" rtlCol="0" anchor="t"/>
          <a:lstStyle/>
          <a:p>
            <a:pPr marL="0" indent="0" algn="l">
              <a:lnSpc>
                <a:spcPts val="1550"/>
              </a:lnSpc>
              <a:buNone/>
            </a:pPr>
            <a:r>
              <a:rPr lang="en-US" sz="1250" dirty="0">
                <a:solidFill>
                  <a:srgbClr val="C6D1D6"/>
                </a:solidFill>
                <a:latin typeface="Geist Medium" pitchFamily="34" charset="0"/>
                <a:ea typeface="Geist Medium" pitchFamily="34" charset="-122"/>
                <a:cs typeface="Geist Medium" pitchFamily="34" charset="-120"/>
              </a:rPr>
              <a:t>AI HEALTH RISK PREDICTION</a:t>
            </a:r>
            <a:endParaRPr lang="en-US" sz="1250" dirty="0"/>
          </a:p>
        </p:txBody>
      </p:sp>
      <p:sp>
        <p:nvSpPr>
          <p:cNvPr id="10" name="Text 6"/>
          <p:cNvSpPr/>
          <p:nvPr/>
        </p:nvSpPr>
        <p:spPr>
          <a:xfrm>
            <a:off x="496119" y="2659335"/>
            <a:ext cx="8151763" cy="157609"/>
          </a:xfrm>
          <a:prstGeom prst="rect">
            <a:avLst/>
          </a:prstGeom>
          <a:noFill/>
          <a:ln/>
        </p:spPr>
        <p:txBody>
          <a:bodyPr wrap="none" lIns="0" tIns="0" rIns="0" bIns="0" rtlCol="0" anchor="t"/>
          <a:lstStyle/>
          <a:p>
            <a:pPr marL="0" indent="0" algn="l">
              <a:lnSpc>
                <a:spcPts val="1200"/>
              </a:lnSpc>
              <a:buNone/>
            </a:pPr>
            <a:r>
              <a:rPr lang="en-US" sz="1000" dirty="0">
                <a:solidFill>
                  <a:srgbClr val="C6D1D6"/>
                </a:solidFill>
                <a:latin typeface="Geist" pitchFamily="34" charset="0"/>
                <a:ea typeface="Geist" pitchFamily="34" charset="-122"/>
                <a:cs typeface="Geist" pitchFamily="34" charset="-120"/>
              </a:rPr>
              <a:t>User enters age, asthma, COPD, smoking, heart disease → RiskForm sends to FastAPI → ML model returns personalized risk level.</a:t>
            </a:r>
            <a:endParaRPr lang="en-US" sz="1000" dirty="0"/>
          </a:p>
        </p:txBody>
      </p:sp>
      <p:pic>
        <p:nvPicPr>
          <p:cNvPr id="11"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496119" y="3043312"/>
            <a:ext cx="127546" cy="127546"/>
          </a:xfrm>
          <a:prstGeom prst="rect">
            <a:avLst/>
          </a:prstGeom>
        </p:spPr>
      </p:pic>
      <p:sp>
        <p:nvSpPr>
          <p:cNvPr id="12" name="Shape 7"/>
          <p:cNvSpPr/>
          <p:nvPr/>
        </p:nvSpPr>
        <p:spPr>
          <a:xfrm>
            <a:off x="496119" y="3229868"/>
            <a:ext cx="8151763" cy="14288"/>
          </a:xfrm>
          <a:prstGeom prst="rect">
            <a:avLst/>
          </a:prstGeom>
          <a:solidFill>
            <a:srgbClr val="8A9AA8"/>
          </a:solidFill>
          <a:ln/>
        </p:spPr>
      </p:sp>
      <p:sp>
        <p:nvSpPr>
          <p:cNvPr id="13" name="Text 8"/>
          <p:cNvSpPr/>
          <p:nvPr/>
        </p:nvSpPr>
        <p:spPr>
          <a:xfrm>
            <a:off x="496119" y="3322216"/>
            <a:ext cx="1594842" cy="199281"/>
          </a:xfrm>
          <a:prstGeom prst="rect">
            <a:avLst/>
          </a:prstGeom>
          <a:noFill/>
          <a:ln/>
        </p:spPr>
        <p:txBody>
          <a:bodyPr wrap="none" lIns="0" tIns="0" rIns="0" bIns="0" rtlCol="0" anchor="t"/>
          <a:lstStyle/>
          <a:p>
            <a:pPr marL="0" indent="0" algn="l">
              <a:lnSpc>
                <a:spcPts val="1550"/>
              </a:lnSpc>
              <a:buNone/>
            </a:pPr>
            <a:r>
              <a:rPr lang="en-US" sz="1250" dirty="0">
                <a:solidFill>
                  <a:srgbClr val="C6D1D6"/>
                </a:solidFill>
                <a:latin typeface="Geist Medium" pitchFamily="34" charset="0"/>
                <a:ea typeface="Geist Medium" pitchFamily="34" charset="-122"/>
                <a:cs typeface="Geist Medium" pitchFamily="34" charset="-120"/>
              </a:rPr>
              <a:t>GEMINI AI CHATBOT</a:t>
            </a:r>
            <a:endParaRPr lang="en-US" sz="1250" dirty="0"/>
          </a:p>
        </p:txBody>
      </p:sp>
      <p:sp>
        <p:nvSpPr>
          <p:cNvPr id="14" name="Text 9"/>
          <p:cNvSpPr/>
          <p:nvPr/>
        </p:nvSpPr>
        <p:spPr>
          <a:xfrm>
            <a:off x="496119" y="3590330"/>
            <a:ext cx="8151763" cy="157609"/>
          </a:xfrm>
          <a:prstGeom prst="rect">
            <a:avLst/>
          </a:prstGeom>
          <a:noFill/>
          <a:ln/>
        </p:spPr>
        <p:txBody>
          <a:bodyPr wrap="none" lIns="0" tIns="0" rIns="0" bIns="0" rtlCol="0" anchor="t"/>
          <a:lstStyle/>
          <a:p>
            <a:pPr marL="0" indent="0" algn="l">
              <a:lnSpc>
                <a:spcPts val="1200"/>
              </a:lnSpc>
              <a:buNone/>
            </a:pPr>
            <a:r>
              <a:rPr lang="en-US" sz="1000" dirty="0">
                <a:solidFill>
                  <a:srgbClr val="C6D1D6"/>
                </a:solidFill>
                <a:latin typeface="Geist" pitchFamily="34" charset="0"/>
                <a:ea typeface="Geist" pitchFamily="34" charset="-122"/>
                <a:cs typeface="Geist" pitchFamily="34" charset="-120"/>
              </a:rPr>
              <a:t>User asks health/pollution questions → Backend sends to Gemini API → AI answer returned. Fallback responses activate if quota fails.</a:t>
            </a:r>
            <a:endParaRPr lang="en-US" sz="1000" dirty="0"/>
          </a:p>
        </p:txBody>
      </p:sp>
      <p:sp>
        <p:nvSpPr>
          <p:cNvPr id="15" name="Shape 10"/>
          <p:cNvSpPr/>
          <p:nvPr/>
        </p:nvSpPr>
        <p:spPr>
          <a:xfrm>
            <a:off x="496119" y="3972744"/>
            <a:ext cx="8151763" cy="633710"/>
          </a:xfrm>
          <a:prstGeom prst="roundRect">
            <a:avLst>
              <a:gd name="adj" fmla="val 18121"/>
            </a:avLst>
          </a:prstGeom>
          <a:solidFill>
            <a:srgbClr val="183A13"/>
          </a:solidFill>
          <a:ln/>
        </p:spPr>
      </p:sp>
      <p:pic>
        <p:nvPicPr>
          <p:cNvPr id="16" name="Image 3" descr="preencoded.png"/>
          <p:cNvPicPr>
            <a:picLocks noChangeAspect="1"/>
          </p:cNvPicPr>
          <p:nvPr/>
        </p:nvPicPr>
        <p:blipFill>
          <a:blip r:embed="rId7"/>
          <a:stretch>
            <a:fillRect/>
          </a:stretch>
        </p:blipFill>
        <p:spPr>
          <a:xfrm>
            <a:off x="623664" y="4144342"/>
            <a:ext cx="159469" cy="127546"/>
          </a:xfrm>
          <a:prstGeom prst="rect">
            <a:avLst/>
          </a:prstGeom>
        </p:spPr>
      </p:pic>
      <p:sp>
        <p:nvSpPr>
          <p:cNvPr id="17" name="Text 11"/>
          <p:cNvSpPr/>
          <p:nvPr/>
        </p:nvSpPr>
        <p:spPr>
          <a:xfrm>
            <a:off x="910679" y="4119414"/>
            <a:ext cx="7609656" cy="319980"/>
          </a:xfrm>
          <a:prstGeom prst="rect">
            <a:avLst/>
          </a:prstGeom>
          <a:noFill/>
          <a:ln/>
        </p:spPr>
        <p:txBody>
          <a:bodyPr wrap="square" lIns="0" tIns="0" rIns="0" bIns="0" rtlCol="0" anchor="t"/>
          <a:lstStyle/>
          <a:p>
            <a:pPr marL="0" indent="0" algn="l">
              <a:lnSpc>
                <a:spcPts val="1200"/>
              </a:lnSpc>
              <a:buNone/>
            </a:pPr>
            <a:r>
              <a:rPr lang="en-US" sz="1000" dirty="0">
                <a:solidFill>
                  <a:srgbClr val="000000"/>
                </a:solidFill>
                <a:latin typeface="Geist" pitchFamily="34" charset="0"/>
                <a:ea typeface="Geist" pitchFamily="34" charset="-122"/>
                <a:cs typeface="Geist" pitchFamily="34" charset="-120"/>
              </a:rPr>
              <a:t>✅</a:t>
            </a:r>
            <a:r>
              <a:rPr lang="en-US" sz="1000" dirty="0">
                <a:solidFill>
                  <a:srgbClr val="FFFFFF"/>
                </a:solidFill>
                <a:latin typeface="Geist" pitchFamily="34" charset="0"/>
                <a:ea typeface="Geist" pitchFamily="34" charset="-122"/>
                <a:cs typeface="Geist" pitchFamily="34" charset="-120"/>
              </a:rPr>
              <a:t> </a:t>
            </a:r>
            <a:r>
              <a:rPr lang="en-US" sz="1000" b="1" dirty="0">
                <a:solidFill>
                  <a:srgbClr val="FFFFFF"/>
                </a:solidFill>
                <a:latin typeface="Geist" pitchFamily="34" charset="0"/>
                <a:ea typeface="Geist" pitchFamily="34" charset="-122"/>
                <a:cs typeface="Geist" pitchFamily="34" charset="-120"/>
              </a:rPr>
              <a:t>AirSense Pakistan</a:t>
            </a:r>
            <a:r>
              <a:rPr lang="en-US" sz="1000" dirty="0">
                <a:solidFill>
                  <a:srgbClr val="FFFFFF"/>
                </a:solidFill>
                <a:latin typeface="Geist" pitchFamily="34" charset="0"/>
                <a:ea typeface="Geist" pitchFamily="34" charset="-122"/>
                <a:cs typeface="Geist" pitchFamily="34" charset="-120"/>
              </a:rPr>
              <a:t> analyzes Pakistan air pollution data, predicts health risk using a </a:t>
            </a:r>
            <a:r>
              <a:rPr lang="en-US" sz="1000" b="1" dirty="0">
                <a:solidFill>
                  <a:srgbClr val="FFFFFF"/>
                </a:solidFill>
                <a:latin typeface="Geist" pitchFamily="34" charset="0"/>
                <a:ea typeface="Geist" pitchFamily="34" charset="-122"/>
                <a:cs typeface="Geist" pitchFamily="34" charset="-120"/>
              </a:rPr>
              <a:t>99.24% accurate</a:t>
            </a:r>
            <a:r>
              <a:rPr lang="en-US" sz="1000" dirty="0">
                <a:solidFill>
                  <a:srgbClr val="FFFFFF"/>
                </a:solidFill>
                <a:latin typeface="Geist" pitchFamily="34" charset="0"/>
                <a:ea typeface="Geist" pitchFamily="34" charset="-122"/>
                <a:cs typeface="Geist" pitchFamily="34" charset="-120"/>
              </a:rPr>
              <a:t> Random Forest model, displays AQI trends and interactive maps, and provides Gemini AI-powered chatbot health guidance — all in one platform.</a:t>
            </a:r>
            <a:endParaRPr lang="en-US" sz="1000" dirty="0"/>
          </a:p>
        </p:txBody>
      </p:sp>
      <p:sp>
        <p:nvSpPr>
          <p:cNvPr id="18" name="Rectangle 17"/>
          <p:cNvSpPr/>
          <p:nvPr/>
        </p:nvSpPr>
        <p:spPr>
          <a:xfrm>
            <a:off x="8070574" y="4870174"/>
            <a:ext cx="1003852" cy="1987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853</Words>
  <Application>Microsoft Office PowerPoint</Application>
  <PresentationFormat>On-screen Show (16:9)</PresentationFormat>
  <Paragraphs>121</Paragraphs>
  <Slides>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Geist Light</vt:lpstr>
      <vt:lpstr>Geist</vt:lpstr>
      <vt:lpstr>Calibri</vt:lpstr>
      <vt:lpstr>Geist Medium</vt:lpstr>
      <vt:lpstr>Consolas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Al Rehman Laptop</cp:lastModifiedBy>
  <cp:revision>2</cp:revision>
  <dcterms:created xsi:type="dcterms:W3CDTF">2026-05-11T21:14:01Z</dcterms:created>
  <dcterms:modified xsi:type="dcterms:W3CDTF">2026-05-11T21:16:43Z</dcterms:modified>
</cp:coreProperties>
</file>